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TO SAY:</a:t>
            </a:r>
          </a:p>
          <a:p>
            <a:r>
              <a:t>Introduce the project by name and in one sentence: a system that takes a CV and a job posting and produces an honest fit assessment plus tailored application material that never invents experience the candidate doesn't have.</a:t>
            </a:r>
          </a:p>
          <a:p/>
          <a:p>
            <a:r>
              <a:t>KEY TECHNICAL POINT: The project is fully committed and pushed to GitHub -- this isn't a prototype demo, it's a finished, tested pipeline (434 tests, 98% coverage).</a:t>
            </a:r>
          </a:p>
          <a:p/>
          <a:p>
            <a:r>
              <a:t>LIKELY MENTOR FOLLOW-UP: "Is this a real working application or a concept?" -- confirm it's fully working, runnable via Streamlit, with a real test suite backing every claim on these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TO SAY:</a:t>
            </a:r>
          </a:p>
          <a:p>
            <a:r>
              <a:t>Walk through each pain point briefly -- this sets up why the project exists. Land on the last one: the exaggeration risk is the one that matters most, because it's the one a naive AI tool would make *worse*, not better.</a:t>
            </a:r>
          </a:p>
          <a:p/>
          <a:p>
            <a:r>
              <a:t>KEY TECHNICAL POINT: No statistics about job-search success rates are claimed anywhere in this project -- none were measured. Everything here is a description of the manual process, not a quantified claim.</a:t>
            </a:r>
          </a:p>
          <a:p/>
          <a:p>
            <a:r>
              <a:t>LIKELY MENTOR FOLLOW-UP: "How common is this problem really?" -- be honest: this wasn't validated against user research, it's the motivating problem statement for the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TO SAY:</a:t>
            </a:r>
          </a:p>
          <a:p>
            <a:r>
              <a:t>Two columns: what the system takes off your plate, versus the one thing it deliberately will not do for the sake of convenience. The second column is the differentiator.</a:t>
            </a:r>
          </a:p>
          <a:p/>
          <a:p>
            <a:r>
              <a:t>KEY TECHNICAL POINT: The core design principle, in the project's own words: 'the model judges, the code decides.' Judgement (is this evidence a match?) comes from the LLM; enforcement (is this claim actually true?) is deterministic code, not another LLM call trusting itself.</a:t>
            </a:r>
          </a:p>
          <a:p/>
          <a:p>
            <a:r>
              <a:t>LIKELY MENTOR FOLLOW-UP: "Isn't grounding just another prompt instruction?" -- no, it's a separate, code-level check that runs after generation and can reject/retry regardless of what the prompt asked for.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TO SAY:</a:t>
            </a:r>
          </a:p>
          <a:p>
            <a:r>
              <a:t>Point along the diagram left to right. Emphasize this is the literal graph wired in code (LangGraph StateGraph) -- not a simplified marketing version.</a:t>
            </a:r>
          </a:p>
          <a:p/>
          <a:p>
            <a:r>
              <a:t>KEY TECHNICAL POINT: Two of these stages are allowed to fail 'softly' (Research, Write) and the pipeline still completes; Score failing is fatal on purpose, because a failed score must never be mistaken for a genuinely poor one.</a:t>
            </a:r>
          </a:p>
          <a:p/>
          <a:p>
            <a:r>
              <a:t>LIKELY MENTOR FOLLOW-UP: "What happens if the company can't be found?" -- the pipeline continues with an honest 'research unavailable' brief; the fit score never depends on company research.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TO SAY:</a:t>
            </a:r>
          </a:p>
          <a:p>
            <a:r>
              <a:t>Trace top to bottom: user goes through the UI (or an external MCP client), into the Supervisor, which fans out to the five pipeline stages. Router and Trace Collector cut across every stage.</a:t>
            </a:r>
          </a:p>
          <a:p/>
          <a:p>
            <a:r>
              <a:t>KEY TECHNICAL POINT: The Supervisor never opens a database or calls a model itself -- everything is injected into its constructor, which is what lets tests swap in an in-memory tracker and stub model clients.</a:t>
            </a:r>
          </a:p>
          <a:p/>
          <a:p>
            <a:r>
              <a:t>LIKELY MENTOR FOLLOW-UP: "Why LangGraph instead of a simple function chain?" -- it makes the pipeline a real graph object that mirrors the flow diagram directly, and keeps routing deterministic (no LLM call decides what runs next).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TO SAY:</a:t>
            </a:r>
          </a:p>
          <a:p>
            <a:r>
              <a:t>The verbatim guard is the important technical detail here -- it's what makes the CV evidence trustworthy enough for the grounding system later to check generated claims against.</a:t>
            </a:r>
          </a:p>
          <a:p/>
          <a:p>
            <a:r>
              <a:t>KEY TECHNICAL POINT: Every extraction goes through the same parse -&gt; validate -&gt; bounded retry loop used everywhere else in the pipeline (generate_validated), so malformed JSON here is handled identically to malformed JSON anywhere else.</a:t>
            </a:r>
          </a:p>
          <a:p/>
          <a:p>
            <a:r>
              <a:t>LIKELY MENTOR FOLLOW-UP: "What if the model paraphrases a CV line instead of copying it exactly?" -- that line is silently dropped before it ever becomes 'evidence' the rest of the system trusts, and the drop is recorded in the trace so it's visible, not silent.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TO SAY:</a:t>
            </a:r>
          </a:p>
          <a:p>
            <a:r>
              <a:t>Walk the flow left to right, then land on the amber box -- it's a real bug that was found and fixed (a query combining company + role + tech returned a stranger's LinkedIn profile and a different company's job posting).</a:t>
            </a:r>
          </a:p>
          <a:p/>
          <a:p>
            <a:r>
              <a:t>KEY TECHNICAL POINT: The relevance guard runs BEFORE the model ever sees the search results -- results that don't mention the company are discarded first, so the summariser can't misattribute them.</a:t>
            </a:r>
          </a:p>
          <a:p/>
          <a:p>
            <a:r>
              <a:t>LIKELY MENTOR FOLLOW-UP: "What search provider do you use?" -- SerpAPI or Brave, configurable; a missing search key doesn't block a run, it just skips research with an honest note in the 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TO SAY:</a:t>
            </a:r>
          </a:p>
          <a:p>
            <a:r>
              <a:t>Walk the flow, then the four match levels with their weights -- this is the headline upgrade over a naive match/no-match system. Point at the formula and the verified 3-of-5 example from the actual test suite.</a:t>
            </a:r>
          </a:p>
          <a:p/>
          <a:p>
            <a:r>
              <a:t>KEY TECHNICAL POINT: The score is computed in plain Python code from the model's per-requirement judgements -- never asked of the model directly. That's what makes it explainable: you can point to exactly which judgement produced the final number.</a:t>
            </a:r>
          </a:p>
          <a:p/>
          <a:p>
            <a:r>
              <a:t>LIKELY MENTOR FOLLOW-UP: "Why four levels instead of two?" -- a live run once scored a real CV at 10% because the two-level system collapsed 'weaker evidence' and 'no evidence at all' into the same bucket. See MatchLevel's docstring in models/outputs.py.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TO SAY:</a:t>
            </a:r>
          </a:p>
          <a:p>
            <a:r>
              <a:t>Trace the loop: draft, check, and either accept or reject-and-retry. The key visual moment is the 'out of retries' box -- the system would rather produce nothing than produce something unverified.</a:t>
            </a:r>
          </a:p>
          <a:p/>
          <a:p>
            <a:r>
              <a:t>KEY TECHNICAL POINT: This is deliberately NOT substring matching -- rewording, reordering, and combining two real bullets all pass. Only genuinely NEW facts (a distinctive term or a number the CV never stated) get flagged.</a:t>
            </a:r>
          </a:p>
          <a:p/>
          <a:p>
            <a:r>
              <a:t>LIKELY MENTOR FOLLOW-UP: "Can you guarantee zero hallucination?" -- no, and the documentation says so explicitly: unsupported claims are detected and rejected, generation is retried -- that's not the same as making fabrication impossible to attempt.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TO SAY:</a:t>
            </a:r>
          </a:p>
          <a:p>
            <a:r>
              <a:t>Two boxes, two very different questions. Schema validation is generic and applies to every model call in the project. Grounding is specific to generated candidate/company material and only runs on the writing agent's output.</a:t>
            </a:r>
          </a:p>
          <a:p/>
          <a:p>
            <a:r>
              <a:t>KEY TECHNICAL POINT: generate_validated() in validation/schema_guard.py is the shared retry primitive -- every agent (parsing, research, scoring, writing) reuses the exact same bounded retry-with-feedback loop rather than each having its own.</a:t>
            </a:r>
          </a:p>
          <a:p/>
          <a:p>
            <a:r>
              <a:t>LIKELY MENTOR FOLLOW-UP: "What's the retry limit and what happens after it's exhausted?" -- 3 attempts by default for both checks; after that, RetryExhaustedError propagates and the caller decides how to degrade (see slide 9's 'out of retries' box).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TO SAY:</a:t>
            </a:r>
          </a:p>
          <a:p>
            <a:r>
              <a:t>Two tiers, each independently configurable to either an Anthropic client or the shared OpenAI-compatible adapter. Point out that a step name like 'score_fit' always resolves to the heavy tier regardless of which vendor is behind it.</a:t>
            </a:r>
          </a:p>
          <a:p/>
          <a:p>
            <a:r>
              <a:t>KEY TECHNICAL POINT: One OpenAI-compatible adapter class covers Groq, Ollama, OpenRouter, and Gemini (via its OpenAI-compatible endpoint) -- they differ only in base URL and model name, so the 'second provider' requirement is a config choice, not new code.</a:t>
            </a:r>
          </a:p>
          <a:p/>
          <a:p>
            <a:r>
              <a:t>LIKELY MENTOR FOLLOW-UP: "Which providers are YOU actually using right now?" -- answer from your own .env's HEAVY_PROVIDER / LIGHT_PROVIDER values, not from this slide -- the default is Anthropic (heavy) + Groq (light) but yours may differ.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TO SAY:</a:t>
            </a:r>
          </a:p>
          <a:p>
            <a:r>
              <a:t>Left side: what the human actually sees in the browser. Right side: what's actually persisted to disk, and survives restarting the app entirely because it's a real SQLite file, not in-memory state.</a:t>
            </a:r>
          </a:p>
          <a:p/>
          <a:p>
            <a:r>
              <a:t>KEY TECHNICAL POINT: Application IDs are randomly generated, not derived from role+company -- so re-running the same role, or applying to two roles at the same company, creates separate records instead of silently overwriting one.</a:t>
            </a:r>
          </a:p>
          <a:p/>
          <a:p>
            <a:r>
              <a:t>LIKELY MENTOR FOLLOW-UP: "Can the agent submit an application for me?" -- no, by design. Status changes only ever happen through an explicit action (UI or MCP tool call) representing a decision a human already made.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TO SAY:</a:t>
            </a:r>
          </a:p>
          <a:p>
            <a:r>
              <a:t>These four numbers were re-run specifically to prepare this deck, not pulled from an old report -- say that explicitly, it's a credibility point.</a:t>
            </a:r>
          </a:p>
          <a:p/>
          <a:p>
            <a:r>
              <a:t>KEY TECHNICAL POINT: The 34 statements not covered are almost entirely provider-SDK constructor branches that only execute with a real Anthropic/OpenAI SDK installed and a real key -- which the suite deliberately never does, by design.</a:t>
            </a:r>
          </a:p>
          <a:p/>
          <a:p>
            <a:r>
              <a:t>LIKELY MENTOR FOLLOW-UP: "How do you test an LLM pipeline without burning API quota constantly?" -- every model and search call is dependency-injected; tests supply a stub client or a scripted reply, so pipeline *logic* is fully tested without ever calling a real 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TO SAY:</a:t>
            </a:r>
          </a:p>
          <a:p>
            <a:r>
              <a:t>Pick two or three of these to actually narrate depending on time -- the 10% score and the API key leak are the strongest stories. Every row here is traceable to a real git commit, not a hypothetical.</a:t>
            </a:r>
          </a:p>
          <a:p/>
          <a:p>
            <a:r>
              <a:t>KEY TECHNICAL POINT: Every one of these has a dedicated regression test now, so the specific bug can't silently come back -- see docs/PROJECT_EXPLANATION.md section 20 for the full table with commit references.</a:t>
            </a:r>
          </a:p>
          <a:p/>
          <a:p>
            <a:r>
              <a:t>LIKELY MENTOR FOLLOW-UP: "Which of these was hardest to fix?" -- the two-evidence-domain grounding rule (keeping company facts and candidate facts strictly separate) without a real grammatical parser -- see the 5-minute explanation for why.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TO SAY:</a:t>
            </a:r>
          </a:p>
          <a:p>
            <a:r>
              <a:t>Read this slide plainly and without hedging -- a mentor will trust the whole project more, not less, for an honest limitations list. Distinguish clearly: left column is what's true today, right column is explicitly NOT built.</a:t>
            </a:r>
          </a:p>
          <a:p/>
          <a:p>
            <a:r>
              <a:t>KEY TECHNICAL POINT: None of the left-column items are bugs -- they're documented, intentional trade-offs (e.g. no keyword-matching fallback for subject relevance, because that would introduce its own false-judgement risk).</a:t>
            </a:r>
          </a:p>
          <a:p/>
          <a:p>
            <a:r>
              <a:t>LIKELY MENTOR FOLLOW-UP: "What would you do with one more week?" -- the real evaluation set, most likely: right now scoring quality rests on unit tests and manual live runs, which is honest but not the same as a measured benchmark.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TO SAY:</a:t>
            </a:r>
          </a:p>
          <a:p>
            <a:r>
              <a:t>Close by restating the core promise in one sentence: honest fit assessment plus application material that never claims what the CV doesn't support. Then move into the live demo using the script in docs/PROJECT_EXPLANATION.md section 27.</a:t>
            </a:r>
          </a:p>
          <a:p/>
          <a:p>
            <a:r>
              <a:t>KEY TECHNICAL POINT: Have a fallback CV/JD ready (tests/fixtures/sample_cv.txt and sample_jd.txt) in case a live document isn't handy -- both are already in the repository.</a:t>
            </a:r>
          </a:p>
          <a:p/>
          <a:p>
            <a:r>
              <a:t>LIKELY MENTOR FOLLOW-UP: "Can I see the code?" -- yes, it's public/pushed on GitHub at this commit; offer to walk through docs/ARCHITECTURE.md for the design-decision reasoning if there's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160520"/>
            <a:ext cx="12191695" cy="73152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Job Application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461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BFD8F2"/>
                </a:solidFill>
                <a:latin typeface="Calibri"/>
              </a:rPr>
              <a:t>Automated, Grounded Job Application Assistance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4348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DB6D6"/>
                </a:solidFill>
                <a:latin typeface="Calibri"/>
              </a:rPr>
              <a:t>Multi-agent CV / job-fit pipeline — CV parsing, company research, evidence-based scoring, and anti-fabrication document generation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C96B8"/>
                </a:solidFill>
                <a:latin typeface="Calibri"/>
              </a:rPr>
              <a:t>Arbisoft AI Internship 2026 — Phase 3 Final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6CB0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E4A"/>
                </a:solidFill>
                <a:latin typeface="Calibri"/>
              </a:rPr>
              <a:t>Applying to Jobs Well Takes Real, Repetitive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170432"/>
            <a:ext cx="1463040" cy="3810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b="1" sz="1700">
                <a:solidFill>
                  <a:srgbClr val="1A2E4A"/>
                </a:solidFill>
                <a:latin typeface="Calibri"/>
              </a:rPr>
              <a:t>▪  Reading a CV against every job posting</a:t>
            </a:r>
            <a:r>
              <a:rPr sz="1600">
                <a:solidFill>
                  <a:srgbClr val="3D4754"/>
                </a:solidFill>
                <a:latin typeface="Calibri"/>
              </a:rPr>
              <a:t>  — most people skip this or reuse one CV everywhere</a:t>
            </a:r>
          </a:p>
          <a:p>
            <a:pPr>
              <a:spcAft>
                <a:spcPts val="1800"/>
              </a:spcAft>
            </a:pPr>
            <a:r>
              <a:rPr b="1" sz="1700">
                <a:solidFill>
                  <a:srgbClr val="1A2E4A"/>
                </a:solidFill>
                <a:latin typeface="Calibri"/>
              </a:rPr>
              <a:t>▪  Identifying skill gaps honestly</a:t>
            </a:r>
            <a:r>
              <a:rPr sz="1600">
                <a:solidFill>
                  <a:srgbClr val="3D4754"/>
                </a:solidFill>
                <a:latin typeface="Calibri"/>
              </a:rPr>
              <a:t>  — hard to be objective about your own CV</a:t>
            </a:r>
          </a:p>
          <a:p>
            <a:pPr>
              <a:spcAft>
                <a:spcPts val="1800"/>
              </a:spcAft>
            </a:pPr>
            <a:r>
              <a:rPr b="1" sz="1700">
                <a:solidFill>
                  <a:srgbClr val="1A2E4A"/>
                </a:solidFill>
                <a:latin typeface="Calibri"/>
              </a:rPr>
              <a:t>▪  Researching each company</a:t>
            </a:r>
            <a:r>
              <a:rPr sz="1600">
                <a:solidFill>
                  <a:srgbClr val="3D4754"/>
                </a:solidFill>
                <a:latin typeface="Calibri"/>
              </a:rPr>
              <a:t>  — reading About pages / news takes real time per application</a:t>
            </a:r>
          </a:p>
          <a:p>
            <a:pPr>
              <a:spcAft>
                <a:spcPts val="1800"/>
              </a:spcAft>
            </a:pPr>
            <a:r>
              <a:rPr b="1" sz="1700">
                <a:solidFill>
                  <a:srgbClr val="1A2E4A"/>
                </a:solidFill>
                <a:latin typeface="Calibri"/>
              </a:rPr>
              <a:t>▪  Tailoring emphasis per role</a:t>
            </a:r>
            <a:r>
              <a:rPr sz="1600">
                <a:solidFill>
                  <a:srgbClr val="3D4754"/>
                </a:solidFill>
                <a:latin typeface="Calibri"/>
              </a:rPr>
              <a:t>  — without rewriting the CV from scratch each time</a:t>
            </a:r>
          </a:p>
          <a:p>
            <a:pPr>
              <a:spcAft>
                <a:spcPts val="1800"/>
              </a:spcAft>
            </a:pPr>
            <a:r>
              <a:rPr b="1" sz="1700">
                <a:solidFill>
                  <a:srgbClr val="1A2E4A"/>
                </a:solidFill>
                <a:latin typeface="Calibri"/>
              </a:rPr>
              <a:t>▪  Writing a specific cover letter</a:t>
            </a:r>
            <a:r>
              <a:rPr sz="1600">
                <a:solidFill>
                  <a:srgbClr val="3D4754"/>
                </a:solidFill>
                <a:latin typeface="Calibri"/>
              </a:rPr>
              <a:t>  — not a generic template</a:t>
            </a:r>
          </a:p>
          <a:p>
            <a:pPr>
              <a:spcAft>
                <a:spcPts val="1800"/>
              </a:spcAft>
            </a:pPr>
            <a:r>
              <a:rPr b="1" sz="1700">
                <a:solidFill>
                  <a:srgbClr val="1A2E4A"/>
                </a:solidFill>
                <a:latin typeface="Calibri"/>
              </a:rPr>
              <a:t>▪  The risk of exaggerating experience</a:t>
            </a:r>
            <a:r>
              <a:rPr sz="1600">
                <a:solidFill>
                  <a:srgbClr val="3D4754"/>
                </a:solidFill>
                <a:latin typeface="Calibri"/>
              </a:rPr>
              <a:t>  — tempting to round “basic knowledge” up to “experience”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6CB0"/>
                </a:solidFill>
                <a:latin typeface="Calibri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E4A"/>
                </a:solidFill>
                <a:latin typeface="Calibri"/>
              </a:rPr>
              <a:t>What the Agent Automates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170432"/>
            <a:ext cx="1463040" cy="3810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5212080" cy="457200"/>
          </a:xfrm>
          <a:prstGeom prst="roundRect">
            <a:avLst/>
          </a:prstGeom>
          <a:solidFill>
            <a:srgbClr val="E9F2FB"/>
          </a:solidFill>
          <a:ln w="15875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400" b="1" i="0">
                <a:solidFill>
                  <a:srgbClr val="1F4E82"/>
                </a:solidFill>
                <a:latin typeface="Calibri"/>
              </a:rPr>
              <a:t>AUTOMATES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57400"/>
            <a:ext cx="5212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600">
                <a:solidFill>
                  <a:srgbClr val="3D4754"/>
                </a:solidFill>
                <a:latin typeface="Calibri"/>
              </a:rPr>
              <a:t>▪  Parses the CV and job posting into structured data</a:t>
            </a:r>
          </a:p>
          <a:p>
            <a:pPr>
              <a:spcAft>
                <a:spcPts val="1600"/>
              </a:spcAft>
            </a:pPr>
            <a:r>
              <a:rPr sz="1600">
                <a:solidFill>
                  <a:srgbClr val="3D4754"/>
                </a:solidFill>
                <a:latin typeface="Calibri"/>
              </a:rPr>
              <a:t>▪  Looks up basic, sourced facts about the company</a:t>
            </a:r>
          </a:p>
          <a:p>
            <a:pPr>
              <a:spcAft>
                <a:spcPts val="1600"/>
              </a:spcAft>
            </a:pPr>
            <a:r>
              <a:rPr sz="1600">
                <a:solidFill>
                  <a:srgbClr val="3D4754"/>
                </a:solidFill>
                <a:latin typeface="Calibri"/>
              </a:rPr>
              <a:t>▪  Scores fit requirement-by-requirement, not one guess</a:t>
            </a:r>
          </a:p>
          <a:p>
            <a:pPr>
              <a:spcAft>
                <a:spcPts val="1600"/>
              </a:spcAft>
            </a:pPr>
            <a:r>
              <a:rPr sz="1600">
                <a:solidFill>
                  <a:srgbClr val="3D4754"/>
                </a:solidFill>
                <a:latin typeface="Calibri"/>
              </a:rPr>
              <a:t>▪  Tailors CV emphasis and drafts a cover letter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303520" cy="457200"/>
          </a:xfrm>
          <a:prstGeom prst="roundRect">
            <a:avLst/>
          </a:prstGeom>
          <a:solidFill>
            <a:srgbClr val="E7F5EE"/>
          </a:solidFill>
          <a:ln w="15875">
            <a:solidFill>
              <a:srgbClr val="2F7D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400" b="1" i="0">
                <a:solidFill>
                  <a:srgbClr val="2F7D5C"/>
                </a:solidFill>
                <a:latin typeface="Calibri"/>
              </a:rPr>
              <a:t>REFUSES TO COMPROMISE 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057400"/>
            <a:ext cx="5303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600">
                <a:solidFill>
                  <a:srgbClr val="3D4754"/>
                </a:solidFill>
                <a:latin typeface="Calibri"/>
              </a:rPr>
              <a:t>▪  Never invents a skill the CV doesn't support</a:t>
            </a:r>
          </a:p>
          <a:p>
            <a:pPr>
              <a:spcAft>
                <a:spcPts val="1600"/>
              </a:spcAft>
            </a:pPr>
            <a:r>
              <a:rPr sz="1600">
                <a:solidFill>
                  <a:srgbClr val="3D4754"/>
                </a:solidFill>
                <a:latin typeface="Calibri"/>
              </a:rPr>
              <a:t>▪  Explains every judgement with real CV evidence</a:t>
            </a:r>
          </a:p>
          <a:p>
            <a:pPr>
              <a:spcAft>
                <a:spcPts val="1600"/>
              </a:spcAft>
            </a:pPr>
            <a:r>
              <a:rPr sz="1600">
                <a:solidFill>
                  <a:srgbClr val="3D4754"/>
                </a:solidFill>
                <a:latin typeface="Calibri"/>
              </a:rPr>
              <a:t>▪  Tracks every application in a persistent record</a:t>
            </a:r>
          </a:p>
          <a:p>
            <a:pPr>
              <a:spcAft>
                <a:spcPts val="1600"/>
              </a:spcAft>
            </a:pPr>
            <a:r>
              <a:rPr sz="1600">
                <a:solidFill>
                  <a:srgbClr val="3D4754"/>
                </a:solidFill>
                <a:latin typeface="Calibri"/>
              </a:rPr>
              <a:t>▪  Refuses to output a document it can't vouch for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6CB0"/>
                </a:solidFill>
                <a:latin typeface="Calibri"/>
              </a:rPr>
              <a:t>END-TO-END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E4A"/>
                </a:solidFill>
                <a:latin typeface="Calibri"/>
              </a:rPr>
              <a:t>The Actual Pipeline, Stage by Stage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170432"/>
            <a:ext cx="1463040" cy="3810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7131" y="2377440"/>
            <a:ext cx="1417320" cy="1005840"/>
          </a:xfrm>
          <a:prstGeom prst="roundRect">
            <a:avLst/>
          </a:prstGeom>
          <a:solidFill>
            <a:srgbClr val="F3F5F7"/>
          </a:solidFill>
          <a:ln w="15875">
            <a:solidFill>
              <a:srgbClr val="6B74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50" b="1" i="0">
                <a:solidFill>
                  <a:srgbClr val="3D4754"/>
                </a:solidFill>
                <a:latin typeface="Calibri"/>
              </a:rPr>
              <a:t>CV + JD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784451" y="2724912"/>
            <a:ext cx="256032" cy="310896"/>
          </a:xfrm>
          <a:prstGeom prst="rightArrow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040483" y="2377440"/>
            <a:ext cx="1417320" cy="1005840"/>
          </a:xfrm>
          <a:prstGeom prst="roundRect">
            <a:avLst/>
          </a:prstGeom>
          <a:solidFill>
            <a:srgbClr val="E9F2FB"/>
          </a:solidFill>
          <a:ln w="15875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50" b="1" i="0">
                <a:solidFill>
                  <a:srgbClr val="1F4E82"/>
                </a:solidFill>
                <a:latin typeface="Calibri"/>
              </a:rPr>
              <a:t>Parse CV
&amp; JD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457803" y="2724912"/>
            <a:ext cx="256032" cy="310896"/>
          </a:xfrm>
          <a:prstGeom prst="rightArrow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13835" y="2377440"/>
            <a:ext cx="1417320" cy="1005840"/>
          </a:xfrm>
          <a:prstGeom prst="roundRect">
            <a:avLst/>
          </a:prstGeom>
          <a:solidFill>
            <a:srgbClr val="E9F2FB"/>
          </a:solidFill>
          <a:ln w="15875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50" b="1" i="0">
                <a:solidFill>
                  <a:srgbClr val="1F4E82"/>
                </a:solidFill>
                <a:latin typeface="Calibri"/>
              </a:rPr>
              <a:t>Research
Company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131155" y="2724912"/>
            <a:ext cx="256032" cy="310896"/>
          </a:xfrm>
          <a:prstGeom prst="rightArrow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387187" y="2377440"/>
            <a:ext cx="1417320" cy="1005840"/>
          </a:xfrm>
          <a:prstGeom prst="roundRect">
            <a:avLst/>
          </a:prstGeom>
          <a:solidFill>
            <a:srgbClr val="E9F2FB"/>
          </a:solidFill>
          <a:ln w="15875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50" b="1" i="0">
                <a:solidFill>
                  <a:srgbClr val="1F4E82"/>
                </a:solidFill>
                <a:latin typeface="Calibri"/>
              </a:rPr>
              <a:t>Score
Fit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804507" y="2724912"/>
            <a:ext cx="256032" cy="310896"/>
          </a:xfrm>
          <a:prstGeom prst="rightArrow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060539" y="2377440"/>
            <a:ext cx="1417320" cy="1005840"/>
          </a:xfrm>
          <a:prstGeom prst="roundRect">
            <a:avLst/>
          </a:prstGeom>
          <a:solidFill>
            <a:srgbClr val="E9F2FB"/>
          </a:solidFill>
          <a:ln w="15875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50" b="1" i="0">
                <a:solidFill>
                  <a:srgbClr val="1F4E82"/>
                </a:solidFill>
                <a:latin typeface="Calibri"/>
              </a:rPr>
              <a:t>Write
Application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477859" y="2724912"/>
            <a:ext cx="256032" cy="310896"/>
          </a:xfrm>
          <a:prstGeom prst="rightArrow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733891" y="2377440"/>
            <a:ext cx="1417320" cy="1005840"/>
          </a:xfrm>
          <a:prstGeom prst="roundRect">
            <a:avLst/>
          </a:prstGeom>
          <a:solidFill>
            <a:srgbClr val="E9F2FB"/>
          </a:solidFill>
          <a:ln w="15875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50" b="1" i="0">
                <a:solidFill>
                  <a:srgbClr val="1F4E82"/>
                </a:solidFill>
                <a:latin typeface="Calibri"/>
              </a:rPr>
              <a:t>Ground &amp;
Validate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10151211" y="2724912"/>
            <a:ext cx="256032" cy="310896"/>
          </a:xfrm>
          <a:prstGeom prst="rightArrow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07243" y="2377440"/>
            <a:ext cx="1417320" cy="1005840"/>
          </a:xfrm>
          <a:prstGeom prst="roundRect">
            <a:avLst/>
          </a:prstGeom>
          <a:solidFill>
            <a:srgbClr val="E9F2FB"/>
          </a:solidFill>
          <a:ln w="15875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50" b="1" i="0">
                <a:solidFill>
                  <a:srgbClr val="1F4E82"/>
                </a:solidFill>
                <a:latin typeface="Calibri"/>
              </a:rPr>
              <a:t>Track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94763" y="3520440"/>
            <a:ext cx="1508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480"/>
                </a:solidFill>
                <a:latin typeface="Calibri"/>
              </a:rPr>
              <a:t>light tier — extracts
verbatim 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68115" y="3520440"/>
            <a:ext cx="1508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480"/>
                </a:solidFill>
                <a:latin typeface="Calibri"/>
              </a:rPr>
              <a:t>light tier —
best-effort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1467" y="3520440"/>
            <a:ext cx="1508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480"/>
                </a:solidFill>
                <a:latin typeface="Calibri"/>
              </a:rPr>
              <a:t>heavy tier —
MATCH/PARTIAL/
RELATED/MISSING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14819" y="3520440"/>
            <a:ext cx="1508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480"/>
                </a:solidFill>
                <a:latin typeface="Calibri"/>
              </a:rPr>
              <a:t>heavy tier —
optional stage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8171" y="3520440"/>
            <a:ext cx="1508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480"/>
                </a:solidFill>
                <a:latin typeface="Calibri"/>
              </a:rPr>
              <a:t>schema +
anti-fabrication
check, retries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61523" y="3520440"/>
            <a:ext cx="1508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480"/>
                </a:solidFill>
                <a:latin typeface="Calibri"/>
              </a:rPr>
              <a:t>SQLite —
always ‘draft’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93776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3D4754"/>
                </a:solidFill>
                <a:latin typeface="Calibri"/>
              </a:rPr>
              <a:t>Research and Write are best-effort — a failure there degrades to a warning. Score is essential — its failure stops the run and nothing is tracked.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480"/>
                </a:solidFill>
                <a:latin typeface="Calibri"/>
              </a:rPr>
              <a:t>Job Application Agent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48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6CB0"/>
                </a:solidFill>
                <a:latin typeface="Calibri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E4A"/>
                </a:solidFill>
                <a:latin typeface="Calibri"/>
              </a:rPr>
              <a:t>Major Components and How They Relate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170432"/>
            <a:ext cx="1463040" cy="3810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120640" y="1417320"/>
            <a:ext cx="1920240" cy="457200"/>
          </a:xfrm>
          <a:prstGeom prst="roundRect">
            <a:avLst/>
          </a:prstGeom>
          <a:solidFill>
            <a:srgbClr val="F3F5F7"/>
          </a:solidFill>
          <a:ln w="15875">
            <a:solidFill>
              <a:srgbClr val="6B74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 i="0">
                <a:solidFill>
                  <a:srgbClr val="3D4754"/>
                </a:solidFill>
                <a:latin typeface="Calibri"/>
              </a:rPr>
              <a:t>User</a:t>
            </a:r>
          </a:p>
        </p:txBody>
      </p:sp>
      <p:sp>
        <p:nvSpPr>
          <p:cNvPr id="7" name="Down Arrow 6"/>
          <p:cNvSpPr/>
          <p:nvPr/>
        </p:nvSpPr>
        <p:spPr>
          <a:xfrm>
            <a:off x="5897880" y="1874519"/>
            <a:ext cx="365760" cy="256032"/>
          </a:xfrm>
          <a:prstGeom prst="downArrow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566160" y="2148840"/>
            <a:ext cx="2194560" cy="502920"/>
          </a:xfrm>
          <a:prstGeom prst="roundRect">
            <a:avLst/>
          </a:prstGeom>
          <a:solidFill>
            <a:srgbClr val="E9F2FB"/>
          </a:solidFill>
          <a:ln w="15875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 i="0">
                <a:solidFill>
                  <a:srgbClr val="1F4E82"/>
                </a:solidFill>
                <a:latin typeface="Calibri"/>
              </a:rPr>
              <a:t>Streamlit UI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148840"/>
            <a:ext cx="2194560" cy="502920"/>
          </a:xfrm>
          <a:prstGeom prst="roundRect">
            <a:avLst/>
          </a:prstGeom>
          <a:solidFill>
            <a:srgbClr val="E9F2FB"/>
          </a:solidFill>
          <a:ln w="15875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 i="0">
                <a:solidFill>
                  <a:srgbClr val="1F4E82"/>
                </a:solidFill>
                <a:latin typeface="Calibri"/>
              </a:rPr>
              <a:t>MCP Server</a:t>
            </a:r>
          </a:p>
        </p:txBody>
      </p:sp>
      <p:sp>
        <p:nvSpPr>
          <p:cNvPr id="10" name="Down Arrow 9"/>
          <p:cNvSpPr/>
          <p:nvPr/>
        </p:nvSpPr>
        <p:spPr>
          <a:xfrm>
            <a:off x="5897880" y="2651760"/>
            <a:ext cx="365760" cy="237744"/>
          </a:xfrm>
          <a:prstGeom prst="downArrow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43400" y="2907792"/>
            <a:ext cx="3474720" cy="548640"/>
          </a:xfrm>
          <a:prstGeom prst="roundRect">
            <a:avLst/>
          </a:prstGeom>
          <a:solidFill>
            <a:srgbClr val="1A2E4A"/>
          </a:solidFill>
          <a:ln w="15875">
            <a:solidFill>
              <a:srgbClr val="1A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Supervisor  (LangGraph StateGraph)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1770737" y="3456432"/>
            <a:ext cx="237744" cy="256032"/>
          </a:xfrm>
          <a:prstGeom prst="downArrow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52350" y="3794760"/>
            <a:ext cx="1874519" cy="594360"/>
          </a:xfrm>
          <a:prstGeom prst="roundRect">
            <a:avLst/>
          </a:prstGeom>
          <a:solidFill>
            <a:srgbClr val="E9F2FB"/>
          </a:solidFill>
          <a:ln w="15875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 i="0">
                <a:solidFill>
                  <a:srgbClr val="1F4E82"/>
                </a:solidFill>
                <a:latin typeface="Calibri"/>
              </a:rPr>
              <a:t>Parse
(tool)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3873856" y="3456432"/>
            <a:ext cx="237744" cy="256032"/>
          </a:xfrm>
          <a:prstGeom prst="downArrow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055469" y="3794760"/>
            <a:ext cx="1874519" cy="594360"/>
          </a:xfrm>
          <a:prstGeom prst="roundRect">
            <a:avLst/>
          </a:prstGeom>
          <a:solidFill>
            <a:srgbClr val="E9F2FB"/>
          </a:solidFill>
          <a:ln w="15875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 i="0">
                <a:solidFill>
                  <a:srgbClr val="1F4E82"/>
                </a:solidFill>
                <a:latin typeface="Calibri"/>
              </a:rPr>
              <a:t>Research
(agent)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5976975" y="3456432"/>
            <a:ext cx="237744" cy="256032"/>
          </a:xfrm>
          <a:prstGeom prst="downArrow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158588" y="3794760"/>
            <a:ext cx="1874519" cy="594360"/>
          </a:xfrm>
          <a:prstGeom prst="roundRect">
            <a:avLst/>
          </a:prstGeom>
          <a:solidFill>
            <a:srgbClr val="E9F2FB"/>
          </a:solidFill>
          <a:ln w="15875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 i="0">
                <a:solidFill>
                  <a:srgbClr val="1F4E82"/>
                </a:solidFill>
                <a:latin typeface="Calibri"/>
              </a:rPr>
              <a:t>Score
(agent)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8080094" y="3456432"/>
            <a:ext cx="237744" cy="256032"/>
          </a:xfrm>
          <a:prstGeom prst="downArrow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261707" y="3794760"/>
            <a:ext cx="1874519" cy="594360"/>
          </a:xfrm>
          <a:prstGeom prst="roundRect">
            <a:avLst/>
          </a:prstGeom>
          <a:solidFill>
            <a:srgbClr val="E9F2FB"/>
          </a:solidFill>
          <a:ln w="15875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 i="0">
                <a:solidFill>
                  <a:srgbClr val="1F4E82"/>
                </a:solidFill>
                <a:latin typeface="Calibri"/>
              </a:rPr>
              <a:t>Write
(agent)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10183213" y="3456432"/>
            <a:ext cx="237744" cy="256032"/>
          </a:xfrm>
          <a:prstGeom prst="downArrow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364826" y="3794760"/>
            <a:ext cx="1874519" cy="594360"/>
          </a:xfrm>
          <a:prstGeom prst="roundRect">
            <a:avLst/>
          </a:prstGeom>
          <a:solidFill>
            <a:srgbClr val="E9F2FB"/>
          </a:solidFill>
          <a:ln w="15875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 i="0">
                <a:solidFill>
                  <a:srgbClr val="1F4E82"/>
                </a:solidFill>
                <a:latin typeface="Calibri"/>
              </a:rPr>
              <a:t>Track
(tracker)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2350" y="4709160"/>
            <a:ext cx="10286995" cy="457200"/>
          </a:xfrm>
          <a:prstGeom prst="roundRect">
            <a:avLst/>
          </a:prstGeom>
          <a:solidFill>
            <a:srgbClr val="FBF1DF"/>
          </a:solidFill>
          <a:ln w="15875">
            <a:solidFill>
              <a:srgbClr val="A86A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 i="0">
                <a:solidFill>
                  <a:srgbClr val="A86A14"/>
                </a:solidFill>
                <a:latin typeface="Calibri"/>
              </a:rPr>
              <a:t>ModelRouter  —  light / heavy tier per step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2350" y="5285232"/>
            <a:ext cx="10286995" cy="457200"/>
          </a:xfrm>
          <a:prstGeom prst="roundRect">
            <a:avLst/>
          </a:prstGeom>
          <a:solidFill>
            <a:srgbClr val="F3F5F7"/>
          </a:solidFill>
          <a:ln w="15875">
            <a:solidFill>
              <a:srgbClr val="6B74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 i="0">
                <a:solidFill>
                  <a:srgbClr val="3D4754"/>
                </a:solidFill>
                <a:latin typeface="Calibri"/>
              </a:rPr>
              <a:t>TraceCollector  —  every call, latency, tokens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98932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3D4754"/>
                </a:solidFill>
                <a:latin typeface="Calibri"/>
              </a:rPr>
              <a:t>Grounding + schema validation sit inside the Write stage's own retry loop — not a separate node in the graph.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480"/>
                </a:solidFill>
                <a:latin typeface="Calibri"/>
              </a:rPr>
              <a:t>Job Application Agent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48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6CB0"/>
                </a:solidFill>
                <a:latin typeface="Calibri"/>
              </a:rPr>
              <a:t>STAGE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E4A"/>
                </a:solidFill>
                <a:latin typeface="Calibri"/>
              </a:rPr>
              <a:t>CV &amp; Job Description Parsing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170432"/>
            <a:ext cx="1463040" cy="3810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2377440" cy="548640"/>
          </a:xfrm>
          <a:prstGeom prst="roundRect">
            <a:avLst/>
          </a:prstGeom>
          <a:solidFill>
            <a:srgbClr val="F3F5F7"/>
          </a:solidFill>
          <a:ln w="15875">
            <a:solidFill>
              <a:srgbClr val="6B74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 i="0">
                <a:solidFill>
                  <a:srgbClr val="3D4754"/>
                </a:solidFill>
                <a:latin typeface="Calibri"/>
              </a:rPr>
              <a:t>Raw CV / JD text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108960" y="1673352"/>
            <a:ext cx="457200" cy="310896"/>
          </a:xfrm>
          <a:prstGeom prst="rightArrow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0" y="1554480"/>
            <a:ext cx="2743200" cy="548640"/>
          </a:xfrm>
          <a:prstGeom prst="roundRect">
            <a:avLst/>
          </a:prstGeom>
          <a:solidFill>
            <a:srgbClr val="E9F2FB"/>
          </a:solidFill>
          <a:ln w="15875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 i="0">
                <a:solidFill>
                  <a:srgbClr val="1F4E82"/>
                </a:solidFill>
                <a:latin typeface="Calibri"/>
              </a:rPr>
              <a:t>Light-tier model
extracts fields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492240" y="1673352"/>
            <a:ext cx="457200" cy="310896"/>
          </a:xfrm>
          <a:prstGeom prst="rightArrow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040880" y="1554480"/>
            <a:ext cx="4480560" cy="548640"/>
          </a:xfrm>
          <a:prstGeom prst="roundRect">
            <a:avLst/>
          </a:prstGeom>
          <a:solidFill>
            <a:srgbClr val="E7F5EE"/>
          </a:solidFill>
          <a:ln w="15875">
            <a:solidFill>
              <a:srgbClr val="2F7D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 i="0">
                <a:solidFill>
                  <a:srgbClr val="2F7D5C"/>
                </a:solidFill>
                <a:latin typeface="Calibri"/>
              </a:rPr>
              <a:t>ParsedCV / JobDescription (structured, validated)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2651760"/>
            <a:ext cx="8503920" cy="685800"/>
          </a:xfrm>
          <a:prstGeom prst="roundRect">
            <a:avLst/>
          </a:prstGeom>
          <a:solidFill>
            <a:srgbClr val="FBF1DF"/>
          </a:solidFill>
          <a:ln w="15875">
            <a:solidFill>
              <a:srgbClr val="A86A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 i="0">
                <a:solidFill>
                  <a:srgbClr val="A86A14"/>
                </a:solidFill>
                <a:latin typeface="Calibri"/>
              </a:rPr>
              <a:t>Verbatim guard: any CV evidence line the model did NOT copy exactly from the source is dropped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57600"/>
            <a:ext cx="108813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500">
                <a:solidFill>
                  <a:srgbClr val="1A2E4A"/>
                </a:solidFill>
                <a:latin typeface="Calibri"/>
              </a:rPr>
              <a:t>▪  Extraction, not summarisation</a:t>
            </a:r>
            <a:r>
              <a:rPr sz="1400">
                <a:solidFill>
                  <a:srgbClr val="3D4754"/>
                </a:solidFill>
                <a:latin typeface="Calibri"/>
              </a:rPr>
              <a:t>  — the prompt requires claims copied from the source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A2E4A"/>
                </a:solidFill>
                <a:latin typeface="Calibri"/>
              </a:rPr>
              <a:t>▪  The raw text never round-trips through the model</a:t>
            </a:r>
            <a:r>
              <a:rPr sz="1400">
                <a:solidFill>
                  <a:srgbClr val="3D4754"/>
                </a:solidFill>
                <a:latin typeface="Calibri"/>
              </a:rPr>
              <a:t>  — raw_text is spliced in from the source afterward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A2E4A"/>
                </a:solidFill>
                <a:latin typeface="Calibri"/>
              </a:rPr>
              <a:t>▪  Requirements vs. responsibilities kept separate</a:t>
            </a:r>
            <a:r>
              <a:rPr sz="1400">
                <a:solidFill>
                  <a:srgbClr val="3D4754"/>
                </a:solidFill>
                <a:latin typeface="Calibri"/>
              </a:rPr>
              <a:t>  — only requirements are scored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A2E4A"/>
                </a:solidFill>
                <a:latin typeface="Calibri"/>
              </a:rPr>
              <a:t>▪  Must-have vs. nice-to-have flagged</a:t>
            </a:r>
            <a:r>
              <a:rPr sz="1400">
                <a:solidFill>
                  <a:srgbClr val="3D4754"/>
                </a:solidFill>
                <a:latin typeface="Calibri"/>
              </a:rPr>
              <a:t>  — from the posting's own wording, not guessed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480"/>
                </a:solidFill>
                <a:latin typeface="Calibri"/>
              </a:rPr>
              <a:t>Job Application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48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6CB0"/>
                </a:solidFill>
                <a:latin typeface="Calibri"/>
              </a:rPr>
              <a:t>STAGE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E4A"/>
                </a:solidFill>
                <a:latin typeface="Calibri"/>
              </a:rPr>
              <a:t>Company Research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170432"/>
            <a:ext cx="1463040" cy="3810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49427" y="1737360"/>
            <a:ext cx="1691640" cy="914400"/>
          </a:xfrm>
          <a:prstGeom prst="roundRect">
            <a:avLst/>
          </a:prstGeom>
          <a:solidFill>
            <a:srgbClr val="E9F2FB"/>
          </a:solidFill>
          <a:ln w="15875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 i="0">
                <a:solidFill>
                  <a:srgbClr val="1F4E82"/>
                </a:solidFill>
                <a:latin typeface="Calibri"/>
              </a:rPr>
              <a:t>Company
name only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141067" y="2039112"/>
            <a:ext cx="228600" cy="310896"/>
          </a:xfrm>
          <a:prstGeom prst="rightArrow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369667" y="1737360"/>
            <a:ext cx="1691640" cy="914400"/>
          </a:xfrm>
          <a:prstGeom prst="roundRect">
            <a:avLst/>
          </a:prstGeom>
          <a:solidFill>
            <a:srgbClr val="E9F2FB"/>
          </a:solidFill>
          <a:ln w="15875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 i="0">
                <a:solidFill>
                  <a:srgbClr val="1F4E82"/>
                </a:solidFill>
                <a:latin typeface="Calibri"/>
              </a:rPr>
              <a:t>web_search
(SerpAPI / Brave)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061307" y="2039112"/>
            <a:ext cx="228600" cy="310896"/>
          </a:xfrm>
          <a:prstGeom prst="rightArrow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89907" y="1737360"/>
            <a:ext cx="1691640" cy="914400"/>
          </a:xfrm>
          <a:prstGeom prst="roundRect">
            <a:avLst/>
          </a:prstGeom>
          <a:solidFill>
            <a:srgbClr val="E9F2FB"/>
          </a:solidFill>
          <a:ln w="15875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 i="0">
                <a:solidFill>
                  <a:srgbClr val="1F4E82"/>
                </a:solidFill>
                <a:latin typeface="Calibri"/>
              </a:rPr>
              <a:t>Relevance
guard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981547" y="2039112"/>
            <a:ext cx="228600" cy="310896"/>
          </a:xfrm>
          <a:prstGeom prst="rightArrow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0147" y="1737360"/>
            <a:ext cx="1691640" cy="914400"/>
          </a:xfrm>
          <a:prstGeom prst="roundRect">
            <a:avLst/>
          </a:prstGeom>
          <a:solidFill>
            <a:srgbClr val="E9F2FB"/>
          </a:solidFill>
          <a:ln w="15875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 i="0">
                <a:solidFill>
                  <a:srgbClr val="1F4E82"/>
                </a:solidFill>
                <a:latin typeface="Calibri"/>
              </a:rPr>
              <a:t>Summarise
(light model)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901787" y="2039112"/>
            <a:ext cx="228600" cy="310896"/>
          </a:xfrm>
          <a:prstGeom prst="rightArrow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30387" y="1737360"/>
            <a:ext cx="1691640" cy="914400"/>
          </a:xfrm>
          <a:prstGeom prst="roundRect">
            <a:avLst/>
          </a:prstGeom>
          <a:solidFill>
            <a:srgbClr val="E9F2FB"/>
          </a:solidFill>
          <a:ln w="15875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 i="0">
                <a:solidFill>
                  <a:srgbClr val="1F4E82"/>
                </a:solidFill>
                <a:latin typeface="Calibri"/>
              </a:rPr>
              <a:t>Grounding
guard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822027" y="2039112"/>
            <a:ext cx="228600" cy="310896"/>
          </a:xfrm>
          <a:prstGeom prst="rightArrow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050627" y="1737360"/>
            <a:ext cx="1691640" cy="914400"/>
          </a:xfrm>
          <a:prstGeom prst="roundRect">
            <a:avLst/>
          </a:prstGeom>
          <a:solidFill>
            <a:srgbClr val="E7F5EE"/>
          </a:solidFill>
          <a:ln w="15875">
            <a:solidFill>
              <a:srgbClr val="2F7D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 i="0">
                <a:solidFill>
                  <a:srgbClr val="2F7D5C"/>
                </a:solidFill>
                <a:latin typeface="Calibri"/>
              </a:rPr>
              <a:t>Company
Brief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63040" y="3063240"/>
            <a:ext cx="9235440" cy="777240"/>
          </a:xfrm>
          <a:prstGeom prst="roundRect">
            <a:avLst/>
          </a:prstGeom>
          <a:solidFill>
            <a:srgbClr val="FBF1DF"/>
          </a:solidFill>
          <a:ln w="15875">
            <a:solidFill>
              <a:srgbClr val="A86A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 i="0">
                <a:solidFill>
                  <a:srgbClr val="A86A14"/>
                </a:solidFill>
                <a:latin typeface="Calibri"/>
              </a:rPr>
              <a:t>Query is company name only — never role + technologies (that combination behaves like a job search and previously returned the wrong company's results)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114800"/>
            <a:ext cx="10881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b="1" sz="1500">
                <a:solidFill>
                  <a:srgbClr val="1A2E4A"/>
                </a:solidFill>
                <a:latin typeface="Calibri"/>
              </a:rPr>
              <a:t>▪  Every fact must cite a real search result</a:t>
            </a:r>
            <a:r>
              <a:rPr sz="1400">
                <a:solidFill>
                  <a:srgbClr val="3D4754"/>
                </a:solidFill>
                <a:latin typeface="Calibri"/>
              </a:rPr>
              <a:t>  — uncited facts are dropped</a:t>
            </a:r>
          </a:p>
          <a:p>
            <a:pPr>
              <a:spcAft>
                <a:spcPts val="1300"/>
              </a:spcAft>
            </a:pPr>
            <a:r>
              <a:rPr b="1" sz="1500">
                <a:solidFill>
                  <a:srgbClr val="1A2E4A"/>
                </a:solidFill>
                <a:latin typeface="Calibri"/>
              </a:rPr>
              <a:t>▪  A number the source never stated is dropped too</a:t>
            </a:r>
            <a:r>
              <a:rPr sz="1400">
                <a:solidFill>
                  <a:srgbClr val="3D4754"/>
                </a:solidFill>
                <a:latin typeface="Calibri"/>
              </a:rPr>
              <a:t>  — same discipline as candidate grounding</a:t>
            </a:r>
          </a:p>
          <a:p>
            <a:pPr>
              <a:spcAft>
                <a:spcPts val="1300"/>
              </a:spcAft>
            </a:pPr>
            <a:r>
              <a:rPr b="1" sz="1500">
                <a:solidFill>
                  <a:srgbClr val="1A2E4A"/>
                </a:solidFill>
                <a:latin typeface="Calibri"/>
              </a:rPr>
              <a:t>▪  Research is best-effort</a:t>
            </a:r>
            <a:r>
              <a:rPr sz="1400">
                <a:solidFill>
                  <a:srgbClr val="3D4754"/>
                </a:solidFill>
                <a:latin typeface="Calibri"/>
              </a:rPr>
              <a:t>  — unnamed company, failed search, or no results all degrade honestly</a:t>
            </a:r>
          </a:p>
          <a:p>
            <a:pPr>
              <a:spcAft>
                <a:spcPts val="1300"/>
              </a:spcAft>
            </a:pPr>
            <a:r>
              <a:rPr b="1" sz="1500">
                <a:solidFill>
                  <a:srgbClr val="1A2E4A"/>
                </a:solidFill>
                <a:latin typeface="Calibri"/>
              </a:rPr>
              <a:t>▪  Sources are shown as real, clickable links</a:t>
            </a:r>
            <a:r>
              <a:rPr sz="1400">
                <a:solidFill>
                  <a:srgbClr val="3D4754"/>
                </a:solidFill>
                <a:latin typeface="Calibri"/>
              </a:rPr>
              <a:t>  — never decorative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480"/>
                </a:solidFill>
                <a:latin typeface="Calibri"/>
              </a:rPr>
              <a:t>Job Application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48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6CB0"/>
                </a:solidFill>
                <a:latin typeface="Calibri"/>
              </a:rPr>
              <a:t>STAGE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E4A"/>
                </a:solidFill>
                <a:latin typeface="Calibri"/>
              </a:rPr>
              <a:t>Fit Scoring — Requirements → Evidence → Score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170432"/>
            <a:ext cx="1463040" cy="3810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49427" y="1554480"/>
            <a:ext cx="1691640" cy="868680"/>
          </a:xfrm>
          <a:prstGeom prst="roundRect">
            <a:avLst/>
          </a:prstGeom>
          <a:solidFill>
            <a:srgbClr val="E9F2FB"/>
          </a:solidFill>
          <a:ln w="15875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 i="0">
                <a:solidFill>
                  <a:srgbClr val="1F4E82"/>
                </a:solidFill>
                <a:latin typeface="Calibri"/>
              </a:rPr>
              <a:t>Requirements
(JD)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141067" y="1828800"/>
            <a:ext cx="228600" cy="310896"/>
          </a:xfrm>
          <a:prstGeom prst="rightArrow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369667" y="1554480"/>
            <a:ext cx="1691640" cy="868680"/>
          </a:xfrm>
          <a:prstGeom prst="roundRect">
            <a:avLst/>
          </a:prstGeom>
          <a:solidFill>
            <a:srgbClr val="E9F2FB"/>
          </a:solidFill>
          <a:ln w="15875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 i="0">
                <a:solidFill>
                  <a:srgbClr val="1F4E82"/>
                </a:solidFill>
                <a:latin typeface="Calibri"/>
              </a:rPr>
              <a:t>CV
Evidence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061307" y="1828800"/>
            <a:ext cx="228600" cy="310896"/>
          </a:xfrm>
          <a:prstGeom prst="rightArrow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89907" y="1554480"/>
            <a:ext cx="1691640" cy="868680"/>
          </a:xfrm>
          <a:prstGeom prst="roundRect">
            <a:avLst/>
          </a:prstGeom>
          <a:solidFill>
            <a:srgbClr val="E9F2FB"/>
          </a:solidFill>
          <a:ln w="15875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 i="0">
                <a:solidFill>
                  <a:srgbClr val="1F4E82"/>
                </a:solidFill>
                <a:latin typeface="Calibri"/>
              </a:rPr>
              <a:t>Model judges
each pair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981547" y="1828800"/>
            <a:ext cx="228600" cy="310896"/>
          </a:xfrm>
          <a:prstGeom prst="rightArrow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0147" y="1554480"/>
            <a:ext cx="1691640" cy="868680"/>
          </a:xfrm>
          <a:prstGeom prst="roundRect">
            <a:avLst/>
          </a:prstGeom>
          <a:solidFill>
            <a:srgbClr val="E9F2FB"/>
          </a:solidFill>
          <a:ln w="15875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 i="0">
                <a:solidFill>
                  <a:srgbClr val="1F4E82"/>
                </a:solidFill>
                <a:latin typeface="Calibri"/>
              </a:rPr>
              <a:t>Match Level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901787" y="1828800"/>
            <a:ext cx="228600" cy="310896"/>
          </a:xfrm>
          <a:prstGeom prst="rightArrow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30387" y="1554480"/>
            <a:ext cx="1691640" cy="868680"/>
          </a:xfrm>
          <a:prstGeom prst="roundRect">
            <a:avLst/>
          </a:prstGeom>
          <a:solidFill>
            <a:srgbClr val="E9F2FB"/>
          </a:solidFill>
          <a:ln w="15875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 i="0">
                <a:solidFill>
                  <a:srgbClr val="1F4E82"/>
                </a:solidFill>
                <a:latin typeface="Calibri"/>
              </a:rPr>
              <a:t>compute_fit_
score (code)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822027" y="1828800"/>
            <a:ext cx="228600" cy="310896"/>
          </a:xfrm>
          <a:prstGeom prst="rightArrow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050627" y="1554480"/>
            <a:ext cx="1691640" cy="868680"/>
          </a:xfrm>
          <a:prstGeom prst="roundRect">
            <a:avLst/>
          </a:prstGeom>
          <a:solidFill>
            <a:srgbClr val="E7F5EE"/>
          </a:solidFill>
          <a:ln w="15875">
            <a:solidFill>
              <a:srgbClr val="2F7D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 i="0">
                <a:solidFill>
                  <a:srgbClr val="2F7D5C"/>
                </a:solidFill>
                <a:latin typeface="Calibri"/>
              </a:rPr>
              <a:t>Score +
Gaps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2327" y="2788920"/>
            <a:ext cx="2514600" cy="548640"/>
          </a:xfrm>
          <a:prstGeom prst="roundRect">
            <a:avLst/>
          </a:prstGeom>
          <a:solidFill>
            <a:srgbClr val="E7F5EE"/>
          </a:solidFill>
          <a:ln w="15875">
            <a:solidFill>
              <a:srgbClr val="2F7D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 i="0">
                <a:solidFill>
                  <a:srgbClr val="2F7D5C"/>
                </a:solidFill>
                <a:latin typeface="Calibri"/>
              </a:rPr>
              <a:t>MATCH   × 1.0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89807" y="2788920"/>
            <a:ext cx="2514600" cy="548640"/>
          </a:xfrm>
          <a:prstGeom prst="roundRect">
            <a:avLst/>
          </a:prstGeom>
          <a:solidFill>
            <a:srgbClr val="FBF1DF"/>
          </a:solidFill>
          <a:ln w="15875">
            <a:solidFill>
              <a:srgbClr val="A86A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 i="0">
                <a:solidFill>
                  <a:srgbClr val="A86A14"/>
                </a:solidFill>
                <a:latin typeface="Calibri"/>
              </a:rPr>
              <a:t>PARTIAL   × 0.5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7287" y="2788920"/>
            <a:ext cx="2514600" cy="548640"/>
          </a:xfrm>
          <a:prstGeom prst="roundRect">
            <a:avLst/>
          </a:prstGeom>
          <a:solidFill>
            <a:srgbClr val="EFE6F7"/>
          </a:solidFill>
          <a:ln w="15875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 i="0">
                <a:solidFill>
                  <a:srgbClr val="6B3FA0"/>
                </a:solidFill>
                <a:latin typeface="Calibri"/>
              </a:rPr>
              <a:t>RELATED   × 0.25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84767" y="2788920"/>
            <a:ext cx="2514600" cy="548640"/>
          </a:xfrm>
          <a:prstGeom prst="roundRect">
            <a:avLst/>
          </a:prstGeom>
          <a:solidFill>
            <a:srgbClr val="FCECEC"/>
          </a:solidFill>
          <a:ln w="15875">
            <a:solidFill>
              <a:srgbClr val="A3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 i="0">
                <a:solidFill>
                  <a:srgbClr val="A33A3A"/>
                </a:solidFill>
                <a:latin typeface="Calibri"/>
              </a:rPr>
              <a:t>MISSING   × 0.0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5204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2E4A"/>
                </a:solidFill>
                <a:latin typeface="Calibri"/>
              </a:rPr>
              <a:t>score = Σ (requirement_weight × match_strength)  /  Σ (requirement_weight)     —     must-have = 1.0, nice-to-have = 0.5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069080"/>
            <a:ext cx="10881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b="1" sz="1450">
                <a:solidFill>
                  <a:srgbClr val="1A2E4A"/>
                </a:solidFill>
                <a:latin typeface="Calibri"/>
              </a:rPr>
              <a:t>▪  The model never writes evidence</a:t>
            </a:r>
            <a:r>
              <a:rPr sz="1350">
                <a:solidFill>
                  <a:srgbClr val="3D4754"/>
                </a:solidFill>
                <a:latin typeface="Calibri"/>
              </a:rPr>
              <a:t>  — it cites an index into the CV's real evidence list; a bad citation is downgraded to MISSING</a:t>
            </a:r>
          </a:p>
          <a:p>
            <a:pPr>
              <a:spcAft>
                <a:spcPts val="1300"/>
              </a:spcAft>
            </a:pPr>
            <a:r>
              <a:rPr b="1" sz="1450">
                <a:solidFill>
                  <a:srgbClr val="1A2E4A"/>
                </a:solidFill>
                <a:latin typeface="Calibri"/>
              </a:rPr>
              <a:t>▪  Verified worked example (from the test suite)</a:t>
            </a:r>
            <a:r>
              <a:rPr sz="1350">
                <a:solidFill>
                  <a:srgbClr val="3D4754"/>
                </a:solidFill>
                <a:latin typeface="Calibri"/>
              </a:rPr>
              <a:t>  — 3 of 5 equally-weighted requirements matched = 3.0 / 5.0 = 0.6</a:t>
            </a:r>
          </a:p>
          <a:p>
            <a:pPr>
              <a:spcAft>
                <a:spcPts val="1300"/>
              </a:spcAft>
            </a:pPr>
            <a:r>
              <a:rPr b="1" sz="1450">
                <a:solidFill>
                  <a:srgbClr val="1A2E4A"/>
                </a:solidFill>
                <a:latin typeface="Calibri"/>
              </a:rPr>
              <a:t>▪  Gaps = exactly the requirements scoring 0.0</a:t>
            </a:r>
            <a:r>
              <a:rPr sz="1350">
                <a:solidFill>
                  <a:srgbClr val="3D4754"/>
                </a:solidFill>
                <a:latin typeface="Calibri"/>
              </a:rPr>
              <a:t>  — partial/related evidence is real evidence, not a gap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480"/>
                </a:solidFill>
                <a:latin typeface="Calibri"/>
              </a:rPr>
              <a:t>Job Application Agent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48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6CB0"/>
                </a:solidFill>
                <a:latin typeface="Calibri"/>
              </a:rPr>
              <a:t>ANTI-FABRICATION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E4A"/>
                </a:solidFill>
                <a:latin typeface="Calibri"/>
              </a:rPr>
              <a:t>Grounded Generation — How Unsupported Claims Are Prevented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170432"/>
            <a:ext cx="1463040" cy="3810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2468880" cy="822960"/>
          </a:xfrm>
          <a:prstGeom prst="roundRect">
            <a:avLst/>
          </a:prstGeom>
          <a:solidFill>
            <a:srgbClr val="E9F2FB"/>
          </a:solidFill>
          <a:ln w="15875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50" b="1" i="0">
                <a:solidFill>
                  <a:srgbClr val="1F4E82"/>
                </a:solidFill>
                <a:latin typeface="Calibri"/>
              </a:rPr>
              <a:t>Model drafts
CV bullets +
cover letter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200400" y="1828800"/>
            <a:ext cx="457200" cy="310896"/>
          </a:xfrm>
          <a:prstGeom prst="rightArrow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749039" y="1554480"/>
            <a:ext cx="2834640" cy="822960"/>
          </a:xfrm>
          <a:prstGeom prst="roundRect">
            <a:avLst/>
          </a:prstGeom>
          <a:solidFill>
            <a:srgbClr val="E9F2FB"/>
          </a:solidFill>
          <a:ln w="15875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50" b="1" i="0">
                <a:solidFill>
                  <a:srgbClr val="1F4E82"/>
                </a:solidFill>
                <a:latin typeface="Calibri"/>
              </a:rPr>
              <a:t>Check every claim
against real CV
evidence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675120" y="1828800"/>
            <a:ext cx="457200" cy="310896"/>
          </a:xfrm>
          <a:prstGeom prst="rightArrow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223760" y="1554480"/>
            <a:ext cx="1920240" cy="822960"/>
          </a:xfrm>
          <a:prstGeom prst="roundRect">
            <a:avLst/>
          </a:prstGeom>
          <a:solidFill>
            <a:srgbClr val="FBF1DF"/>
          </a:solidFill>
          <a:ln w="15875">
            <a:solidFill>
              <a:srgbClr val="A86A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50" b="1" i="0">
                <a:solidFill>
                  <a:srgbClr val="A86A14"/>
                </a:solidFill>
                <a:latin typeface="Calibri"/>
              </a:rPr>
              <a:t>Unsupported
claim found?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8001000" y="2423160"/>
            <a:ext cx="310896" cy="365760"/>
          </a:xfrm>
          <a:prstGeom prst="downArrow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223760" y="2880360"/>
            <a:ext cx="1920240" cy="685800"/>
          </a:xfrm>
          <a:prstGeom prst="roundRect">
            <a:avLst/>
          </a:prstGeom>
          <a:solidFill>
            <a:srgbClr val="FCECEC"/>
          </a:solidFill>
          <a:ln w="15875">
            <a:solidFill>
              <a:srgbClr val="A3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 i="0">
                <a:solidFill>
                  <a:srgbClr val="A33A3A"/>
                </a:solidFill>
                <a:latin typeface="Calibri"/>
              </a:rPr>
              <a:t>YES → reject +
name the claim</a:t>
            </a:r>
          </a:p>
        </p:txBody>
      </p:sp>
      <p:cxnSp>
        <p:nvCxnSpPr>
          <p:cNvPr id="13" name="Connector 12"/>
          <p:cNvCxnSpPr/>
          <p:nvPr/>
        </p:nvCxnSpPr>
        <p:spPr>
          <a:xfrm flipH="1" flipV="1">
            <a:off x="1874519" y="1965960"/>
            <a:ext cx="5349241" cy="1234440"/>
          </a:xfrm>
          <a:prstGeom prst="line">
            <a:avLst/>
          </a:prstGeom>
          <a:ln w="25400">
            <a:solidFill>
              <a:srgbClr val="A3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920240" y="3246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33A3A"/>
                </a:solidFill>
                <a:latin typeface="Calibri"/>
              </a:rPr>
              <a:t>retry (up to 3 attempts)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0" y="1554480"/>
            <a:ext cx="1965960" cy="822960"/>
          </a:xfrm>
          <a:prstGeom prst="roundRect">
            <a:avLst/>
          </a:prstGeom>
          <a:solidFill>
            <a:srgbClr val="E7F5EE"/>
          </a:solidFill>
          <a:ln w="15875">
            <a:solidFill>
              <a:srgbClr val="2F7D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 i="0">
                <a:solidFill>
                  <a:srgbClr val="2F7D5C"/>
                </a:solidFill>
                <a:latin typeface="Calibri"/>
              </a:rPr>
              <a:t>NO → accept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144000" y="1828800"/>
            <a:ext cx="457200" cy="310896"/>
          </a:xfrm>
          <a:prstGeom prst="rightArrow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own Arrow 16"/>
          <p:cNvSpPr/>
          <p:nvPr/>
        </p:nvSpPr>
        <p:spPr>
          <a:xfrm>
            <a:off x="10424160" y="2423160"/>
            <a:ext cx="310896" cy="365760"/>
          </a:xfrm>
          <a:prstGeom prst="downArrow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778240" y="2880360"/>
            <a:ext cx="2834640" cy="685800"/>
          </a:xfrm>
          <a:prstGeom prst="roundRect">
            <a:avLst/>
          </a:prstGeom>
          <a:solidFill>
            <a:srgbClr val="E7F5EE"/>
          </a:solidFill>
          <a:ln w="15875">
            <a:solidFill>
              <a:srgbClr val="2F7D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 i="0">
                <a:solidFill>
                  <a:srgbClr val="2F7D5C"/>
                </a:solidFill>
                <a:latin typeface="Calibri"/>
              </a:rPr>
              <a:t>Tailored CV +
Cover Letter shown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977639"/>
            <a:ext cx="9052560" cy="594360"/>
          </a:xfrm>
          <a:prstGeom prst="roundRect">
            <a:avLst/>
          </a:prstGeom>
          <a:solidFill>
            <a:srgbClr val="F3F5F7"/>
          </a:solidFill>
          <a:ln w="15875">
            <a:solidFill>
              <a:srgbClr val="6B74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 i="0">
                <a:solidFill>
                  <a:srgbClr val="3D4754"/>
                </a:solidFill>
                <a:latin typeface="Calibri"/>
              </a:rPr>
              <a:t>Out of retries → nothing is returned at all: the candidate keeps the original CV + the honest gap list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75488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400">
                <a:solidFill>
                  <a:srgbClr val="1A2E4A"/>
                </a:solidFill>
                <a:latin typeface="Calibri"/>
              </a:rPr>
              <a:t>▪  “Arbisoft uses Django” supports</a:t>
            </a:r>
            <a:r>
              <a:rPr sz="1300">
                <a:solidFill>
                  <a:srgbClr val="3D4754"/>
                </a:solidFill>
                <a:latin typeface="Calibri"/>
              </a:rPr>
              <a:t>  “your company uses Django” — never “I have Django experience”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1A2E4A"/>
                </a:solidFill>
                <a:latin typeface="Calibri"/>
              </a:rPr>
              <a:t>▪  A role titled “Kubernetes Engineer”</a:t>
            </a:r>
            <a:r>
              <a:rPr sz="1300">
                <a:solidFill>
                  <a:srgbClr val="3D4754"/>
                </a:solidFill>
                <a:latin typeface="Calibri"/>
              </a:rPr>
              <a:t>  does not make “I have Kubernetes experience” supportable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480"/>
                </a:solidFill>
                <a:latin typeface="Calibri"/>
              </a:rPr>
              <a:t>Job Application 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48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6CB0"/>
                </a:solidFill>
                <a:latin typeface="Calibri"/>
              </a:rPr>
              <a:t>TWO INDEPENDENT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E4A"/>
                </a:solidFill>
                <a:latin typeface="Calibri"/>
              </a:rPr>
              <a:t>Schema Validation &amp; Grounding Validation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170432"/>
            <a:ext cx="1463040" cy="3810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2103120" cy="640080"/>
          </a:xfrm>
          <a:prstGeom prst="roundRect">
            <a:avLst/>
          </a:prstGeom>
          <a:solidFill>
            <a:srgbClr val="F3F5F7"/>
          </a:solidFill>
          <a:ln w="15875">
            <a:solidFill>
              <a:srgbClr val="6B74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 i="0">
                <a:solidFill>
                  <a:srgbClr val="3D4754"/>
                </a:solidFill>
                <a:latin typeface="Calibri"/>
              </a:rPr>
              <a:t>Model
output (JSON)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788920" y="1783080"/>
            <a:ext cx="411480" cy="274320"/>
          </a:xfrm>
          <a:prstGeom prst="rightArrow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46120" y="1234440"/>
            <a:ext cx="3200400" cy="1280160"/>
          </a:xfrm>
          <a:prstGeom prst="roundRect">
            <a:avLst/>
          </a:prstGeom>
          <a:solidFill>
            <a:srgbClr val="E9F2FB"/>
          </a:solidFill>
          <a:ln w="15875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 i="0">
                <a:solidFill>
                  <a:srgbClr val="1F4E82"/>
                </a:solidFill>
                <a:latin typeface="Calibri"/>
              </a:rPr>
              <a:t>SCHEMA VALIDATION
“Is this the right shape?”
(Pydantic: types, required
fields, ranges, enums)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492240" y="1783080"/>
            <a:ext cx="411480" cy="274320"/>
          </a:xfrm>
          <a:prstGeom prst="rightArrow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949440" y="1234440"/>
            <a:ext cx="3200400" cy="1280160"/>
          </a:xfrm>
          <a:prstGeom prst="roundRect">
            <a:avLst/>
          </a:prstGeom>
          <a:solidFill>
            <a:srgbClr val="E9F2FB"/>
          </a:solidFill>
          <a:ln w="15875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 i="0">
                <a:solidFill>
                  <a:srgbClr val="1F4E82"/>
                </a:solidFill>
                <a:latin typeface="Calibri"/>
              </a:rPr>
              <a:t>GROUNDING VALIDATION
“Is this true of THIS
candidate?”
(checked against real CV text)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10195560" y="1783080"/>
            <a:ext cx="411480" cy="274320"/>
          </a:xfrm>
          <a:prstGeom prst="rightArrow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652760" y="1417320"/>
            <a:ext cx="1005840" cy="914400"/>
          </a:xfrm>
          <a:prstGeom prst="roundRect">
            <a:avLst/>
          </a:prstGeom>
          <a:solidFill>
            <a:srgbClr val="E7F5EE"/>
          </a:solidFill>
          <a:ln w="15875">
            <a:solidFill>
              <a:srgbClr val="2F7D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 i="0">
                <a:solidFill>
                  <a:srgbClr val="2F7D5C"/>
                </a:solidFill>
                <a:latin typeface="Calibri"/>
              </a:rPr>
              <a:t>Accepted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26517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A33A3A"/>
                </a:solidFill>
                <a:latin typeface="Calibri"/>
              </a:rPr>
              <a:t>invalid → exact error fed
back, retry (×3)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6517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A33A3A"/>
                </a:solidFill>
                <a:latin typeface="Calibri"/>
              </a:rPr>
              <a:t>unsupported → violation
named, retry (×3)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0" y="3520440"/>
            <a:ext cx="6675120" cy="640080"/>
          </a:xfrm>
          <a:prstGeom prst="roundRect">
            <a:avLst/>
          </a:prstGeom>
          <a:solidFill>
            <a:srgbClr val="FBF1DF"/>
          </a:solidFill>
          <a:ln w="15875">
            <a:solidFill>
              <a:srgbClr val="A86A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 i="0">
                <a:solidFill>
                  <a:srgbClr val="A86A14"/>
                </a:solidFill>
                <a:latin typeface="Calibri"/>
              </a:rPr>
              <a:t>A perfectly schema-valid document can still be a fabrication — that's why these are separate modules, and both must pass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43484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400">
                <a:solidFill>
                  <a:srgbClr val="1A2E4A"/>
                </a:solidFill>
                <a:latin typeface="Calibri"/>
              </a:rPr>
              <a:t>▪  Neither check can substitute for the other</a:t>
            </a:r>
            <a:r>
              <a:rPr sz="1300">
                <a:solidFill>
                  <a:srgbClr val="3D4754"/>
                </a:solidFill>
                <a:latin typeface="Calibri"/>
              </a:rPr>
              <a:t>  — schema_guard.py answers shape, grounding.py answers truth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1A2E4A"/>
                </a:solidFill>
                <a:latin typeface="Calibri"/>
              </a:rPr>
              <a:t>▪  Same retry pattern everywhere in the pipeline</a:t>
            </a:r>
            <a:r>
              <a:rPr sz="1300">
                <a:solidFill>
                  <a:srgbClr val="3D4754"/>
                </a:solidFill>
                <a:latin typeface="Calibri"/>
              </a:rPr>
              <a:t>  — parsing, research, scoring, writing all use generate_validated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1A2E4A"/>
                </a:solidFill>
                <a:latin typeface="Calibri"/>
              </a:rPr>
              <a:t>▪  Real edge case handled</a:t>
            </a:r>
            <a:r>
              <a:rPr sz="1300">
                <a:solidFill>
                  <a:srgbClr val="3D4754"/>
                </a:solidFill>
                <a:latin typeface="Calibri"/>
              </a:rPr>
              <a:t>  — some providers (Groq) reject malformed JSON as an HTTP error instead of returning it — recovered and routed through the same retry 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480"/>
                </a:solidFill>
                <a:latin typeface="Calibri"/>
              </a:rPr>
              <a:t>Job Application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48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6CB0"/>
                </a:solidFill>
                <a:latin typeface="Calibri"/>
              </a:rPr>
              <a:t>MODEL ROUTING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E4A"/>
                </a:solidFill>
                <a:latin typeface="Calibri"/>
              </a:rPr>
              <a:t>Light / Heavy Tiers &amp; Provider Abstraction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170432"/>
            <a:ext cx="1463040" cy="3810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1463040"/>
            <a:ext cx="4206240" cy="1371600"/>
          </a:xfrm>
          <a:prstGeom prst="roundRect">
            <a:avLst/>
          </a:prstGeom>
          <a:solidFill>
            <a:srgbClr val="E9F2FB"/>
          </a:solidFill>
          <a:ln w="15875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 i="0">
                <a:solidFill>
                  <a:srgbClr val="1F4E82"/>
                </a:solidFill>
                <a:latin typeface="Calibri"/>
              </a:rPr>
              <a:t>LIGHT TIER
Parse CV · Parse JD · Summarise
cheap, mechanical extraction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463040"/>
            <a:ext cx="4206240" cy="1371600"/>
          </a:xfrm>
          <a:prstGeom prst="roundRect">
            <a:avLst/>
          </a:prstGeom>
          <a:solidFill>
            <a:srgbClr val="1A2E4A"/>
          </a:solidFill>
          <a:ln w="15875">
            <a:solidFill>
              <a:srgbClr val="1A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HEAVY TIER
Score Fit · Tailor CV · Verify Claims
judgement-heavy reasoning</a:t>
            </a:r>
          </a:p>
        </p:txBody>
      </p:sp>
      <p:sp>
        <p:nvSpPr>
          <p:cNvPr id="8" name="Down Arrow 7"/>
          <p:cNvSpPr/>
          <p:nvPr/>
        </p:nvSpPr>
        <p:spPr>
          <a:xfrm>
            <a:off x="3291840" y="2880360"/>
            <a:ext cx="292608" cy="274320"/>
          </a:xfrm>
          <a:prstGeom prst="downArrow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own Arrow 8"/>
          <p:cNvSpPr/>
          <p:nvPr/>
        </p:nvSpPr>
        <p:spPr>
          <a:xfrm>
            <a:off x="8503920" y="2880360"/>
            <a:ext cx="292608" cy="274320"/>
          </a:xfrm>
          <a:prstGeom prst="downArrow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3246120"/>
            <a:ext cx="5120640" cy="822960"/>
          </a:xfrm>
          <a:prstGeom prst="roundRect">
            <a:avLst/>
          </a:prstGeom>
          <a:solidFill>
            <a:srgbClr val="F3F5F7"/>
          </a:solidFill>
          <a:ln w="15875">
            <a:solidFill>
              <a:srgbClr val="6B74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 i="0">
                <a:solidFill>
                  <a:srgbClr val="3D4754"/>
                </a:solidFill>
                <a:latin typeface="Calibri"/>
              </a:rPr>
              <a:t>anthropic  —or—  openai_compatible
(Groq, Ollama, OpenRouter, Gemini ...)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46120"/>
            <a:ext cx="5120640" cy="822960"/>
          </a:xfrm>
          <a:prstGeom prst="roundRect">
            <a:avLst/>
          </a:prstGeom>
          <a:solidFill>
            <a:srgbClr val="F3F5F7"/>
          </a:solidFill>
          <a:ln w="15875">
            <a:solidFill>
              <a:srgbClr val="6B74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 i="0">
                <a:solidFill>
                  <a:srgbClr val="3D4754"/>
                </a:solidFill>
                <a:latin typeface="Calibri"/>
              </a:rPr>
              <a:t>anthropic  —or—  openai_compatible
(Groq, Ollama, OpenRouter, Gemini ...)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6080" y="4343400"/>
            <a:ext cx="6309360" cy="548640"/>
          </a:xfrm>
          <a:prstGeom prst="roundRect">
            <a:avLst/>
          </a:prstGeom>
          <a:solidFill>
            <a:srgbClr val="FBF1DF"/>
          </a:solidFill>
          <a:ln w="15875">
            <a:solidFill>
              <a:srgbClr val="A86A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 i="0">
                <a:solidFill>
                  <a:srgbClr val="A86A14"/>
                </a:solidFill>
                <a:latin typeface="Calibri"/>
              </a:rPr>
              <a:t>ModelRouter  —  one adapter per provider kind, chosen by config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074920"/>
            <a:ext cx="10881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b="1" sz="1400">
                <a:solidFill>
                  <a:srgbClr val="1A2E4A"/>
                </a:solidFill>
                <a:latin typeface="Calibri"/>
              </a:rPr>
              <a:t>▪  Agents ask for a step, never a vendor</a:t>
            </a:r>
            <a:r>
              <a:rPr sz="1300">
                <a:solidFill>
                  <a:srgbClr val="3D4754"/>
                </a:solidFill>
                <a:latin typeface="Calibri"/>
              </a:rPr>
              <a:t>  — “score_fit” always maps to the heavy tier, whichever provider that is</a:t>
            </a:r>
          </a:p>
          <a:p>
            <a:pPr>
              <a:spcAft>
                <a:spcPts val="1100"/>
              </a:spcAft>
            </a:pPr>
            <a:r>
              <a:rPr b="1" sz="1400">
                <a:solidFill>
                  <a:srgbClr val="1A2E4A"/>
                </a:solidFill>
                <a:latin typeface="Calibri"/>
              </a:rPr>
              <a:t>▪  Changing provider or model is a .env change</a:t>
            </a:r>
            <a:r>
              <a:rPr sz="1300">
                <a:solidFill>
                  <a:srgbClr val="3D4754"/>
                </a:solidFill>
                <a:latin typeface="Calibri"/>
              </a:rPr>
              <a:t>  — no code changes required</a:t>
            </a:r>
          </a:p>
          <a:p>
            <a:pPr>
              <a:spcAft>
                <a:spcPts val="1100"/>
              </a:spcAft>
            </a:pPr>
            <a:r>
              <a:rPr b="1" sz="1400">
                <a:solidFill>
                  <a:srgbClr val="1A2E4A"/>
                </a:solidFill>
                <a:latin typeface="Calibri"/>
              </a:rPr>
              <a:t>▪  Out of the box: two real, different providers</a:t>
            </a:r>
            <a:r>
              <a:rPr sz="1300">
                <a:solidFill>
                  <a:srgbClr val="3D4754"/>
                </a:solidFill>
                <a:latin typeface="Calibri"/>
              </a:rPr>
              <a:t>  — Anthropic (heavy) + an OpenAI-compatible endpoint (light), satisfying the “≥ 2 providers” requirement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480"/>
                </a:solidFill>
                <a:latin typeface="Calibri"/>
              </a:rPr>
              <a:t>Job Application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48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6CB0"/>
                </a:solidFill>
                <a:latin typeface="Calibri"/>
              </a:rPr>
              <a:t>RESULTS &amp; PERSISTENCE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E4A"/>
                </a:solidFill>
                <a:latin typeface="Calibri"/>
              </a:rPr>
              <a:t>Application Tracker &amp; the Streamlit UI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170432"/>
            <a:ext cx="1463040" cy="3810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120640" cy="457200"/>
          </a:xfrm>
          <a:prstGeom prst="roundRect">
            <a:avLst/>
          </a:prstGeom>
          <a:solidFill>
            <a:srgbClr val="E9F2FB"/>
          </a:solidFill>
          <a:ln w="15875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 i="0">
                <a:solidFill>
                  <a:srgbClr val="1F4E82"/>
                </a:solidFill>
                <a:latin typeface="Calibri"/>
              </a:rPr>
              <a:t>STREAMLIT UI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400">
                <a:solidFill>
                  <a:srgbClr val="3D4754"/>
                </a:solidFill>
                <a:latin typeface="Calibri"/>
              </a:rPr>
              <a:t>▪  CV + JD input (paste or upload .txt/.md/.pdf)</a:t>
            </a:r>
          </a:p>
          <a:p>
            <a:pPr>
              <a:spcAft>
                <a:spcPts val="1300"/>
              </a:spcAft>
            </a:pPr>
            <a:r>
              <a:rPr sz="1400">
                <a:solidFill>
                  <a:srgbClr val="3D4754"/>
                </a:solidFill>
                <a:latin typeface="Calibri"/>
              </a:rPr>
              <a:t>▪  Pipeline progress, reconstructed from the real trace</a:t>
            </a:r>
          </a:p>
          <a:p>
            <a:pPr>
              <a:spcAft>
                <a:spcPts val="1300"/>
              </a:spcAft>
            </a:pPr>
            <a:r>
              <a:rPr sz="1400">
                <a:solidFill>
                  <a:srgbClr val="3D4754"/>
                </a:solidFill>
                <a:latin typeface="Calibri"/>
              </a:rPr>
              <a:t>▪  Fit report, grouped by match level, with evidence</a:t>
            </a:r>
          </a:p>
          <a:p>
            <a:pPr>
              <a:spcAft>
                <a:spcPts val="1300"/>
              </a:spcAft>
            </a:pPr>
            <a:r>
              <a:rPr sz="1400">
                <a:solidFill>
                  <a:srgbClr val="3D4754"/>
                </a:solidFill>
                <a:latin typeface="Calibri"/>
              </a:rPr>
              <a:t>▪  Company research with clickable sources</a:t>
            </a:r>
          </a:p>
          <a:p>
            <a:pPr>
              <a:spcAft>
                <a:spcPts val="1300"/>
              </a:spcAft>
            </a:pPr>
            <a:r>
              <a:rPr sz="1400">
                <a:solidFill>
                  <a:srgbClr val="3D4754"/>
                </a:solidFill>
                <a:latin typeface="Calibri"/>
              </a:rPr>
              <a:t>▪  Tailored CV + cover letter, each downloadable</a:t>
            </a:r>
          </a:p>
          <a:p>
            <a:pPr>
              <a:spcAft>
                <a:spcPts val="1300"/>
              </a:spcAft>
            </a:pPr>
            <a:r>
              <a:rPr sz="1400">
                <a:solidFill>
                  <a:srgbClr val="3D4754"/>
                </a:solidFill>
                <a:latin typeface="Calibri"/>
              </a:rPr>
              <a:t>▪  Validation panel — what grounding actually rejected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349240" cy="457200"/>
          </a:xfrm>
          <a:prstGeom prst="roundRect">
            <a:avLst/>
          </a:prstGeom>
          <a:solidFill>
            <a:srgbClr val="E7F5EE"/>
          </a:solidFill>
          <a:ln w="15875">
            <a:solidFill>
              <a:srgbClr val="2F7D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 i="0">
                <a:solidFill>
                  <a:srgbClr val="2F7D5C"/>
                </a:solidFill>
                <a:latin typeface="Calibri"/>
              </a:rPr>
              <a:t>TRACKER RECORD (SQLite)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011680"/>
            <a:ext cx="2377440" cy="502920"/>
          </a:xfrm>
          <a:prstGeom prst="roundRect">
            <a:avLst/>
          </a:prstGeom>
          <a:solidFill>
            <a:srgbClr val="F3F5F7"/>
          </a:solidFill>
          <a:ln w="15875">
            <a:solidFill>
              <a:srgbClr val="6B74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 i="0">
                <a:solidFill>
                  <a:srgbClr val="1A2E4A"/>
                </a:solidFill>
                <a:latin typeface="Calibri"/>
              </a:rPr>
              <a:t>application_id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2084832"/>
            <a:ext cx="2743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3D4754"/>
                </a:solidFill>
                <a:latin typeface="Calibri"/>
              </a:rPr>
              <a:t>random, opaque id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633472"/>
            <a:ext cx="2377440" cy="502920"/>
          </a:xfrm>
          <a:prstGeom prst="roundRect">
            <a:avLst/>
          </a:prstGeom>
          <a:solidFill>
            <a:srgbClr val="F3F5F7"/>
          </a:solidFill>
          <a:ln w="15875">
            <a:solidFill>
              <a:srgbClr val="6B74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 i="0">
                <a:solidFill>
                  <a:srgbClr val="1A2E4A"/>
                </a:solidFill>
                <a:latin typeface="Calibri"/>
              </a:rPr>
              <a:t>role / company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2706624"/>
            <a:ext cx="2743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3D4754"/>
                </a:solidFill>
                <a:latin typeface="Calibri"/>
              </a:rPr>
              <a:t>from the posting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255264"/>
            <a:ext cx="2377440" cy="502920"/>
          </a:xfrm>
          <a:prstGeom prst="roundRect">
            <a:avLst/>
          </a:prstGeom>
          <a:solidFill>
            <a:srgbClr val="F3F5F7"/>
          </a:solidFill>
          <a:ln w="15875">
            <a:solidFill>
              <a:srgbClr val="6B74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 i="0">
                <a:solidFill>
                  <a:srgbClr val="1A2E4A"/>
                </a:solidFill>
                <a:latin typeface="Calibri"/>
              </a:rPr>
              <a:t>fit_score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2520" y="3328416"/>
            <a:ext cx="2743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3D4754"/>
                </a:solidFill>
                <a:latin typeface="Calibri"/>
              </a:rPr>
              <a:t>0.0–1.0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877056"/>
            <a:ext cx="2377440" cy="502920"/>
          </a:xfrm>
          <a:prstGeom prst="roundRect">
            <a:avLst/>
          </a:prstGeom>
          <a:solidFill>
            <a:srgbClr val="F3F5F7"/>
          </a:solidFill>
          <a:ln w="15875">
            <a:solidFill>
              <a:srgbClr val="6B74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 i="0">
                <a:solidFill>
                  <a:srgbClr val="1A2E4A"/>
                </a:solidFill>
                <a:latin typeface="Calibri"/>
              </a:rPr>
              <a:t>status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3950208"/>
            <a:ext cx="2743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3D4754"/>
                </a:solidFill>
                <a:latin typeface="Calibri"/>
              </a:rPr>
              <a:t>draft → ready → submitted → archived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498848"/>
            <a:ext cx="2377440" cy="502920"/>
          </a:xfrm>
          <a:prstGeom prst="roundRect">
            <a:avLst/>
          </a:prstGeom>
          <a:solidFill>
            <a:srgbClr val="F3F5F7"/>
          </a:solidFill>
          <a:ln w="15875">
            <a:solidFill>
              <a:srgbClr val="6B74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 i="0">
                <a:solidFill>
                  <a:srgbClr val="1A2E4A"/>
                </a:solidFill>
                <a:latin typeface="Calibri"/>
              </a:rPr>
              <a:t>created_at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32520" y="4572000"/>
            <a:ext cx="2743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3D4754"/>
                </a:solidFill>
                <a:latin typeface="Calibri"/>
              </a:rPr>
              <a:t>timestamp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5257800"/>
            <a:ext cx="5349240" cy="914400"/>
          </a:xfrm>
          <a:prstGeom prst="roundRect">
            <a:avLst/>
          </a:prstGeom>
          <a:solidFill>
            <a:srgbClr val="FBF1DF"/>
          </a:solidFill>
          <a:ln w="15875">
            <a:solidFill>
              <a:srgbClr val="A86A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 i="0">
                <a:solidFill>
                  <a:srgbClr val="A86A14"/>
                </a:solidFill>
                <a:latin typeface="Calibri"/>
              </a:rPr>
              <a:t>Every application starts — and stays — as ‘draft’ unless a human explicitly changes it. Nothing is ever auto-submitted.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480"/>
                </a:solidFill>
                <a:latin typeface="Calibri"/>
              </a:rPr>
              <a:t>Job Application 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48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6CB0"/>
                </a:solidFill>
                <a:latin typeface="Calibri"/>
              </a:rPr>
              <a:t>TESTING &amp; 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E4A"/>
                </a:solidFill>
                <a:latin typeface="Calibri"/>
              </a:rPr>
              <a:t>Verified, Not Assumed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170432"/>
            <a:ext cx="1463040" cy="3810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0867" y="1508760"/>
            <a:ext cx="2606040" cy="1188720"/>
          </a:xfrm>
          <a:prstGeom prst="roundRect">
            <a:avLst/>
          </a:prstGeom>
          <a:solidFill>
            <a:srgbClr val="1A2E4A"/>
          </a:solidFill>
          <a:ln w="15875">
            <a:solidFill>
              <a:srgbClr val="1A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434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867" y="2724912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D4754"/>
                </a:solidFill>
                <a:latin typeface="Calibri"/>
              </a:rPr>
              <a:t>tests passed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75507" y="1508760"/>
            <a:ext cx="2606040" cy="1188720"/>
          </a:xfrm>
          <a:prstGeom prst="roundRect">
            <a:avLst/>
          </a:prstGeom>
          <a:solidFill>
            <a:srgbClr val="1A2E4A"/>
          </a:solidFill>
          <a:ln w="15875">
            <a:solidFill>
              <a:srgbClr val="1A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98%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75507" y="2724912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D4754"/>
                </a:solidFill>
                <a:latin typeface="Calibri"/>
              </a:rPr>
              <a:t>coverage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0147" y="1508760"/>
            <a:ext cx="2606040" cy="1188720"/>
          </a:xfrm>
          <a:prstGeom prst="roundRect">
            <a:avLst/>
          </a:prstGeom>
          <a:solidFill>
            <a:srgbClr val="1A2E4A"/>
          </a:solidFill>
          <a:ln w="15875">
            <a:solidFill>
              <a:srgbClr val="1A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2724912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D4754"/>
                </a:solidFill>
                <a:latin typeface="Calibri"/>
              </a:rPr>
              <a:t>Ruff issues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44787" y="1508760"/>
            <a:ext cx="2606040" cy="1188720"/>
          </a:xfrm>
          <a:prstGeom prst="roundRect">
            <a:avLst/>
          </a:prstGeom>
          <a:solidFill>
            <a:srgbClr val="1A2E4A"/>
          </a:solidFill>
          <a:ln w="15875">
            <a:solidFill>
              <a:srgbClr val="1A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44787" y="2724912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D4754"/>
                </a:solidFill>
                <a:latin typeface="Calibri"/>
              </a:rPr>
              <a:t>offline — no API key needed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4290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b="1" sz="1500">
                <a:solidFill>
                  <a:srgbClr val="1A2E4A"/>
                </a:solidFill>
                <a:latin typeface="Calibri"/>
              </a:rPr>
              <a:t>▪  Regression tests pin down real fixed bugs</a:t>
            </a:r>
            <a:r>
              <a:rPr sz="1400">
                <a:solidFill>
                  <a:srgbClr val="3D4754"/>
                </a:solidFill>
                <a:latin typeface="Calibri"/>
              </a:rPr>
              <a:t>  — REST API/APIs plural, BS/Bachelor's abbreviation, CSS-vs-API subject relevance, and more</a:t>
            </a:r>
          </a:p>
          <a:p>
            <a:pPr>
              <a:spcAft>
                <a:spcPts val="1500"/>
              </a:spcAft>
            </a:pPr>
            <a:r>
              <a:rPr b="1" sz="1500">
                <a:solidFill>
                  <a:srgbClr val="1A2E4A"/>
                </a:solidFill>
                <a:latin typeface="Calibri"/>
              </a:rPr>
              <a:t>▪  Largest test file: grounding (78 tests)</a:t>
            </a:r>
            <a:r>
              <a:rPr sz="1400">
                <a:solidFill>
                  <a:srgbClr val="3D4754"/>
                </a:solidFill>
                <a:latin typeface="Calibri"/>
              </a:rPr>
              <a:t>  — matches its role as the trust-critical layer</a:t>
            </a:r>
          </a:p>
          <a:p>
            <a:pPr>
              <a:spcAft>
                <a:spcPts val="1500"/>
              </a:spcAft>
            </a:pPr>
            <a:r>
              <a:rPr b="1" sz="1500">
                <a:solidFill>
                  <a:srgbClr val="1A2E4A"/>
                </a:solidFill>
                <a:latin typeface="Calibri"/>
              </a:rPr>
              <a:t>▪  Every model / search call is stubbed or injected</a:t>
            </a:r>
            <a:r>
              <a:rPr sz="1400">
                <a:solidFill>
                  <a:srgbClr val="3D4754"/>
                </a:solidFill>
                <a:latin typeface="Calibri"/>
              </a:rPr>
              <a:t>  — the full suite runs with zero network access</a:t>
            </a:r>
          </a:p>
          <a:p>
            <a:pPr>
              <a:spcAft>
                <a:spcPts val="1500"/>
              </a:spcAft>
            </a:pPr>
            <a:r>
              <a:rPr b="1" sz="1500">
                <a:solidFill>
                  <a:srgbClr val="1A2E4A"/>
                </a:solidFill>
                <a:latin typeface="Calibri"/>
              </a:rPr>
              <a:t>▪  Independently re-verified for this presentation</a:t>
            </a:r>
            <a:r>
              <a:rPr sz="1400">
                <a:solidFill>
                  <a:srgbClr val="3D4754"/>
                </a:solidFill>
                <a:latin typeface="Calibri"/>
              </a:rPr>
              <a:t>  — not copied from an earlier report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480"/>
                </a:solidFill>
                <a:latin typeface="Calibri"/>
              </a:rPr>
              <a:t>Job Application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48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6CB0"/>
                </a:solidFill>
                <a:latin typeface="Calibri"/>
              </a:rPr>
              <a:t>REAL DEVELOPMENT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E4A"/>
                </a:solidFill>
                <a:latin typeface="Calibri"/>
              </a:rPr>
              <a:t>Challenges &amp; Solutions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170432"/>
            <a:ext cx="1463040" cy="3810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3383280" cy="777240"/>
          </a:xfrm>
          <a:prstGeom prst="roundRect">
            <a:avLst/>
          </a:prstGeom>
          <a:solidFill>
            <a:srgbClr val="FCECEC"/>
          </a:solidFill>
          <a:ln w="15875">
            <a:solidFill>
              <a:srgbClr val="A3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 i="0">
                <a:solidFill>
                  <a:srgbClr val="A33A3A"/>
                </a:solidFill>
                <a:latin typeface="Calibri"/>
              </a:rPr>
              <a:t>10% fit on a strong CV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977639" y="1764792"/>
            <a:ext cx="274320" cy="256032"/>
          </a:xfrm>
          <a:prstGeom prst="rightArrow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297680" y="1508760"/>
            <a:ext cx="3566160" cy="777240"/>
          </a:xfrm>
          <a:prstGeom prst="roundRect">
            <a:avLst/>
          </a:prstGeom>
          <a:solidFill>
            <a:srgbClr val="FBF1DF"/>
          </a:solidFill>
          <a:ln w="15875">
            <a:solidFill>
              <a:srgbClr val="A86A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0" i="0">
                <a:solidFill>
                  <a:srgbClr val="A86A14"/>
                </a:solidFill>
                <a:latin typeface="Calibri"/>
              </a:rPr>
              <a:t>Two-state scoring collapsed “weaker evidence” and “no evidence” together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909560" y="1764792"/>
            <a:ext cx="274320" cy="256032"/>
          </a:xfrm>
          <a:prstGeom prst="rightArrow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0" y="1508760"/>
            <a:ext cx="3383280" cy="777240"/>
          </a:xfrm>
          <a:prstGeom prst="roundRect">
            <a:avLst/>
          </a:prstGeom>
          <a:solidFill>
            <a:srgbClr val="E7F5EE"/>
          </a:solidFill>
          <a:ln w="15875">
            <a:solidFill>
              <a:srgbClr val="2F7D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 i="0">
                <a:solidFill>
                  <a:srgbClr val="2F7D5C"/>
                </a:solidFill>
                <a:latin typeface="Calibri"/>
              </a:rPr>
              <a:t>Four match levels: MATCH/PARTIAL/RELATED/MISSING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423160"/>
            <a:ext cx="3383280" cy="777240"/>
          </a:xfrm>
          <a:prstGeom prst="roundRect">
            <a:avLst/>
          </a:prstGeom>
          <a:solidFill>
            <a:srgbClr val="FCECEC"/>
          </a:solidFill>
          <a:ln w="15875">
            <a:solidFill>
              <a:srgbClr val="A3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 i="0">
                <a:solidFill>
                  <a:srgbClr val="A33A3A"/>
                </a:solidFill>
                <a:latin typeface="Calibri"/>
              </a:rPr>
              <a:t>CSS/HTML judged “partial” for API knowledge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977639" y="2679192"/>
            <a:ext cx="274320" cy="256032"/>
          </a:xfrm>
          <a:prstGeom prst="rightArrow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97680" y="2423160"/>
            <a:ext cx="3566160" cy="777240"/>
          </a:xfrm>
          <a:prstGeom prst="roundRect">
            <a:avLst/>
          </a:prstGeom>
          <a:solidFill>
            <a:srgbClr val="FBF1DF"/>
          </a:solidFill>
          <a:ln w="15875">
            <a:solidFill>
              <a:srgbClr val="A86A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0" i="0">
                <a:solidFill>
                  <a:srgbClr val="A86A14"/>
                </a:solidFill>
                <a:latin typeface="Calibri"/>
              </a:rPr>
              <a:t>Proficiency was weighed before subject relevance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909560" y="2679192"/>
            <a:ext cx="274320" cy="256032"/>
          </a:xfrm>
          <a:prstGeom prst="rightArrow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0" y="2423160"/>
            <a:ext cx="3383280" cy="777240"/>
          </a:xfrm>
          <a:prstGeom prst="roundRect">
            <a:avLst/>
          </a:prstGeom>
          <a:solidFill>
            <a:srgbClr val="E7F5EE"/>
          </a:solidFill>
          <a:ln w="15875">
            <a:solidFill>
              <a:srgbClr val="2F7D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 i="0">
                <a:solidFill>
                  <a:srgbClr val="2F7D5C"/>
                </a:solidFill>
                <a:latin typeface="Calibri"/>
              </a:rPr>
              <a:t>Prompt rule: check subject match BEFORE proficiency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337560"/>
            <a:ext cx="3383280" cy="777240"/>
          </a:xfrm>
          <a:prstGeom prst="roundRect">
            <a:avLst/>
          </a:prstGeom>
          <a:solidFill>
            <a:srgbClr val="FCECEC"/>
          </a:solidFill>
          <a:ln w="15875">
            <a:solidFill>
              <a:srgbClr val="A3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 i="0">
                <a:solidFill>
                  <a:srgbClr val="A33A3A"/>
                </a:solidFill>
                <a:latin typeface="Calibri"/>
              </a:rPr>
              <a:t>A live API key leaked into logs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977639" y="3593592"/>
            <a:ext cx="274320" cy="256032"/>
          </a:xfrm>
          <a:prstGeom prst="rightArrow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297680" y="3337560"/>
            <a:ext cx="3566160" cy="777240"/>
          </a:xfrm>
          <a:prstGeom prst="roundRect">
            <a:avLst/>
          </a:prstGeom>
          <a:solidFill>
            <a:srgbClr val="FBF1DF"/>
          </a:solidFill>
          <a:ln w="15875">
            <a:solidFill>
              <a:srgbClr val="A86A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0" i="0">
                <a:solidFill>
                  <a:srgbClr val="A86A14"/>
                </a:solidFill>
                <a:latin typeface="Calibri"/>
              </a:rPr>
              <a:t>httpx logs full URLs; SerpAPI's key rides in the URL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909560" y="3593592"/>
            <a:ext cx="274320" cy="256032"/>
          </a:xfrm>
          <a:prstGeom prst="rightArrow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29600" y="3337560"/>
            <a:ext cx="3383280" cy="777240"/>
          </a:xfrm>
          <a:prstGeom prst="roundRect">
            <a:avLst/>
          </a:prstGeom>
          <a:solidFill>
            <a:srgbClr val="E7F5EE"/>
          </a:solidFill>
          <a:ln w="15875">
            <a:solidFill>
              <a:srgbClr val="2F7D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 i="0">
                <a:solidFill>
                  <a:srgbClr val="2F7D5C"/>
                </a:solidFill>
                <a:latin typeface="Calibri"/>
              </a:rPr>
              <a:t>Silenced request logging; errors report status only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251960"/>
            <a:ext cx="3383280" cy="777240"/>
          </a:xfrm>
          <a:prstGeom prst="roundRect">
            <a:avLst/>
          </a:prstGeom>
          <a:solidFill>
            <a:srgbClr val="FCECEC"/>
          </a:solidFill>
          <a:ln w="15875">
            <a:solidFill>
              <a:srgbClr val="A3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 i="0">
                <a:solidFill>
                  <a:srgbClr val="A33A3A"/>
                </a:solidFill>
                <a:latin typeface="Calibri"/>
              </a:rPr>
              <a:t>Wrong company's job results in research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3977639" y="4507992"/>
            <a:ext cx="274320" cy="256032"/>
          </a:xfrm>
          <a:prstGeom prst="rightArrow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297680" y="4251960"/>
            <a:ext cx="3566160" cy="777240"/>
          </a:xfrm>
          <a:prstGeom prst="roundRect">
            <a:avLst/>
          </a:prstGeom>
          <a:solidFill>
            <a:srgbClr val="FBF1DF"/>
          </a:solidFill>
          <a:ln w="15875">
            <a:solidFill>
              <a:srgbClr val="A86A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0" i="0">
                <a:solidFill>
                  <a:srgbClr val="A86A14"/>
                </a:solidFill>
                <a:latin typeface="Calibri"/>
              </a:rPr>
              <a:t>Company + role + tech query behaves like a job search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909560" y="4507992"/>
            <a:ext cx="274320" cy="256032"/>
          </a:xfrm>
          <a:prstGeom prst="rightArrow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29600" y="4251960"/>
            <a:ext cx="3383280" cy="777240"/>
          </a:xfrm>
          <a:prstGeom prst="roundRect">
            <a:avLst/>
          </a:prstGeom>
          <a:solidFill>
            <a:srgbClr val="E7F5EE"/>
          </a:solidFill>
          <a:ln w="15875">
            <a:solidFill>
              <a:srgbClr val="2F7D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 i="0">
                <a:solidFill>
                  <a:srgbClr val="2F7D5C"/>
                </a:solidFill>
                <a:latin typeface="Calibri"/>
              </a:rPr>
              <a:t>Query is company name only + a relevance guard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166360"/>
            <a:ext cx="3383280" cy="777240"/>
          </a:xfrm>
          <a:prstGeom prst="roundRect">
            <a:avLst/>
          </a:prstGeom>
          <a:solidFill>
            <a:srgbClr val="FCECEC"/>
          </a:solidFill>
          <a:ln w="15875">
            <a:solidFill>
              <a:srgbClr val="A3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 i="0">
                <a:solidFill>
                  <a:srgbClr val="A33A3A"/>
                </a:solidFill>
                <a:latin typeface="Calibri"/>
              </a:rPr>
              <a:t>Grounded drafts rejected for “REST APIs” vs “REST API”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3977639" y="5422392"/>
            <a:ext cx="274320" cy="256032"/>
          </a:xfrm>
          <a:prstGeom prst="rightArrow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297680" y="5166360"/>
            <a:ext cx="3566160" cy="777240"/>
          </a:xfrm>
          <a:prstGeom prst="roundRect">
            <a:avLst/>
          </a:prstGeom>
          <a:solidFill>
            <a:srgbClr val="FBF1DF"/>
          </a:solidFill>
          <a:ln w="15875">
            <a:solidFill>
              <a:srgbClr val="A86A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0" i="0">
                <a:solidFill>
                  <a:srgbClr val="A86A14"/>
                </a:solidFill>
                <a:latin typeface="Calibri"/>
              </a:rPr>
              <a:t>Exact substring matching, no plural handling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7909560" y="5422392"/>
            <a:ext cx="274320" cy="256032"/>
          </a:xfrm>
          <a:prstGeom prst="rightArrow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229600" y="5166360"/>
            <a:ext cx="3383280" cy="777240"/>
          </a:xfrm>
          <a:prstGeom prst="roundRect">
            <a:avLst/>
          </a:prstGeom>
          <a:solidFill>
            <a:srgbClr val="E7F5EE"/>
          </a:solidFill>
          <a:ln w="15875">
            <a:solidFill>
              <a:srgbClr val="2F7D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 i="0">
                <a:solidFill>
                  <a:srgbClr val="2F7D5C"/>
                </a:solidFill>
                <a:latin typeface="Calibri"/>
              </a:rPr>
              <a:t>Conservative singular-form matching added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480"/>
                </a:solidFill>
                <a:latin typeface="Calibri"/>
              </a:rPr>
              <a:t>Job Application Agent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48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6CB0"/>
                </a:solidFill>
                <a:latin typeface="Calibri"/>
              </a:rPr>
              <a:t>HONEST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E4A"/>
                </a:solidFill>
                <a:latin typeface="Calibri"/>
              </a:rPr>
              <a:t>Limitations &amp; Future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170432"/>
            <a:ext cx="1463040" cy="3810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5394960" cy="457200"/>
          </a:xfrm>
          <a:prstGeom prst="roundRect">
            <a:avLst/>
          </a:prstGeom>
          <a:solidFill>
            <a:srgbClr val="FCECEC"/>
          </a:solidFill>
          <a:ln w="15875">
            <a:solidFill>
              <a:srgbClr val="A3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 i="0">
                <a:solidFill>
                  <a:srgbClr val="A33A3A"/>
                </a:solidFill>
                <a:latin typeface="Calibri"/>
              </a:rPr>
              <a:t>KNOWN LIMITATIONS (today)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350">
                <a:solidFill>
                  <a:srgbClr val="3D4754"/>
                </a:solidFill>
                <a:latin typeface="Calibri"/>
              </a:rPr>
              <a:t>▪  Subject-relevance scoring rule is prompt-level only — by design, no keyword fallback</a:t>
            </a:r>
          </a:p>
          <a:p>
            <a:pPr>
              <a:spcAft>
                <a:spcPts val="1300"/>
              </a:spcAft>
            </a:pPr>
            <a:r>
              <a:rPr sz="1350">
                <a:solidFill>
                  <a:srgbClr val="3D4754"/>
                </a:solidFill>
                <a:latin typeface="Calibri"/>
              </a:rPr>
              <a:t>▪  Grounding catches invented terms/numbers, not silent proficiency inflation</a:t>
            </a:r>
          </a:p>
          <a:p>
            <a:pPr>
              <a:spcAft>
                <a:spcPts val="1300"/>
              </a:spcAft>
            </a:pPr>
            <a:r>
              <a:rPr sz="1350">
                <a:solidFill>
                  <a:srgbClr val="3D4754"/>
                </a:solidFill>
                <a:latin typeface="Calibri"/>
              </a:rPr>
              <a:t>▪  A full run takes ~1 minute; the UI blocks synchronously</a:t>
            </a:r>
          </a:p>
          <a:p>
            <a:pPr>
              <a:spcAft>
                <a:spcPts val="1300"/>
              </a:spcAft>
            </a:pPr>
            <a:r>
              <a:rPr sz="1350">
                <a:solidFill>
                  <a:srgbClr val="3D4754"/>
                </a:solidFill>
                <a:latin typeface="Calibri"/>
              </a:rPr>
              <a:t>▪  No multi-model side-by-side comparison view</a:t>
            </a:r>
          </a:p>
          <a:p>
            <a:pPr>
              <a:spcAft>
                <a:spcPts val="1300"/>
              </a:spcAft>
            </a:pPr>
            <a:r>
              <a:rPr sz="1350">
                <a:solidFill>
                  <a:srgbClr val="3D4754"/>
                </a:solidFill>
                <a:latin typeface="Calibri"/>
              </a:rPr>
              <a:t>▪  No company-research caching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17320"/>
            <a:ext cx="5394960" cy="457200"/>
          </a:xfrm>
          <a:prstGeom prst="roundRect">
            <a:avLst/>
          </a:prstGeom>
          <a:solidFill>
            <a:srgbClr val="E7F5EE"/>
          </a:solidFill>
          <a:ln w="15875">
            <a:solidFill>
              <a:srgbClr val="2F7D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 i="0">
                <a:solidFill>
                  <a:srgbClr val="2F7D5C"/>
                </a:solidFill>
                <a:latin typeface="Calibri"/>
              </a:rPr>
              <a:t>FUTURE WORK (not implemented)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01168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350">
                <a:solidFill>
                  <a:srgbClr val="3D4754"/>
                </a:solidFill>
                <a:latin typeface="Calibri"/>
              </a:rPr>
              <a:t>▪  Enable model-assisted claim verification by default</a:t>
            </a:r>
          </a:p>
          <a:p>
            <a:pPr>
              <a:spcAft>
                <a:spcPts val="1300"/>
              </a:spcAft>
            </a:pPr>
            <a:r>
              <a:rPr sz="1350">
                <a:solidFill>
                  <a:srgbClr val="3D4754"/>
                </a:solidFill>
                <a:latin typeface="Calibri"/>
              </a:rPr>
              <a:t>▪  Cache company research per company</a:t>
            </a:r>
          </a:p>
          <a:p>
            <a:pPr>
              <a:spcAft>
                <a:spcPts val="1300"/>
              </a:spcAft>
            </a:pPr>
            <a:r>
              <a:rPr sz="1350">
                <a:solidFill>
                  <a:srgbClr val="3D4754"/>
                </a:solidFill>
                <a:latin typeface="Calibri"/>
              </a:rPr>
              <a:t>▪  Side-by-side model comparison (tiers already exist)</a:t>
            </a:r>
          </a:p>
          <a:p>
            <a:pPr>
              <a:spcAft>
                <a:spcPts val="1300"/>
              </a:spcAft>
            </a:pPr>
            <a:r>
              <a:rPr sz="1350">
                <a:solidFill>
                  <a:srgbClr val="3D4754"/>
                </a:solidFill>
                <a:latin typeface="Calibri"/>
              </a:rPr>
              <a:t>▪  Run the pipeline asynchronously in the UI</a:t>
            </a:r>
          </a:p>
          <a:p>
            <a:pPr>
              <a:spcAft>
                <a:spcPts val="1300"/>
              </a:spcAft>
            </a:pPr>
            <a:r>
              <a:rPr sz="1350">
                <a:solidFill>
                  <a:srgbClr val="3D4754"/>
                </a:solidFill>
                <a:latin typeface="Calibri"/>
              </a:rPr>
              <a:t>▪  A small real evaluation set for scoring quality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480"/>
                </a:solidFill>
                <a:latin typeface="Calibri"/>
              </a:rPr>
              <a:t>Job Application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480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What the Final System Achieves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1800">
                <a:solidFill>
                  <a:srgbClr val="D8E6F5"/>
                </a:solidFill>
                <a:latin typeface="Calibri"/>
              </a:rPr>
              <a:t>▪  A working, tested, end-to-end pipeline — not a prototype</a:t>
            </a:r>
          </a:p>
          <a:p>
            <a:pPr>
              <a:spcAft>
                <a:spcPts val="1800"/>
              </a:spcAft>
            </a:pPr>
            <a:r>
              <a:rPr sz="1800">
                <a:solidFill>
                  <a:srgbClr val="D8E6F5"/>
                </a:solidFill>
                <a:latin typeface="Calibri"/>
              </a:rPr>
              <a:t>▪  Honest, evidence-cited fit scoring across four match levels</a:t>
            </a:r>
          </a:p>
          <a:p>
            <a:pPr>
              <a:spcAft>
                <a:spcPts val="1800"/>
              </a:spcAft>
            </a:pPr>
            <a:r>
              <a:rPr sz="1800">
                <a:solidFill>
                  <a:srgbClr val="D8E6F5"/>
                </a:solidFill>
                <a:latin typeface="Calibri"/>
              </a:rPr>
              <a:t>▪  Application material that is generated, checked, and rejected until it's true</a:t>
            </a:r>
          </a:p>
          <a:p>
            <a:pPr>
              <a:spcAft>
                <a:spcPts val="1800"/>
              </a:spcAft>
            </a:pPr>
            <a:r>
              <a:rPr sz="1800">
                <a:solidFill>
                  <a:srgbClr val="D8E6F5"/>
                </a:solidFill>
                <a:latin typeface="Calibri"/>
              </a:rPr>
              <a:t>▪  434 tests, 98% coverage, clean lint, committed and pushed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160520"/>
            <a:ext cx="10515600" cy="1371600"/>
          </a:xfrm>
          <a:prstGeom prst="roundRect">
            <a:avLst/>
          </a:prstGeom>
          <a:solidFill>
            <a:srgbClr val="1F4E82"/>
          </a:solidFill>
          <a:ln w="15875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Live demo: paste a CV + job description → Run application → walk through the fit report, grounding panel, and tracker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9DB6D6"/>
                </a:solidFill>
                <a:latin typeface="Calibri"/>
              </a:rPr>
              <a:t>Thank you — questions welcome.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480"/>
                </a:solidFill>
                <a:latin typeface="Calibri"/>
              </a:rPr>
              <a:t>Job Application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480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